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27432000" cy="16459200"/>
  <p:notesSz cx="16459200" cy="2743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21338D1-E1E2-4A81-8DE4-9520C50B4257}" v="5" dt="2026-04-27T05:55:25.79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40" d="100"/>
          <a:sy n="40" d="100"/>
        </p:scale>
        <p:origin x="168" y="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chel M Rabet" userId="d42dba726ac374f1" providerId="LiveId" clId="{42C385D4-AC4F-419E-9EEE-A530DF9DE950}"/>
    <pc:docChg chg="undo custSel modSld">
      <pc:chgData name="Michel M Rabet" userId="d42dba726ac374f1" providerId="LiveId" clId="{42C385D4-AC4F-419E-9EEE-A530DF9DE950}" dt="2026-04-29T11:16:27.941" v="314" actId="1076"/>
      <pc:docMkLst>
        <pc:docMk/>
      </pc:docMkLst>
      <pc:sldChg chg="addSp delSp modSp mod">
        <pc:chgData name="Michel M Rabet" userId="d42dba726ac374f1" providerId="LiveId" clId="{42C385D4-AC4F-419E-9EEE-A530DF9DE950}" dt="2026-04-29T11:16:27.941" v="314" actId="1076"/>
        <pc:sldMkLst>
          <pc:docMk/>
          <pc:sldMk cId="0" sldId="256"/>
        </pc:sldMkLst>
        <pc:spChg chg="mod">
          <ac:chgData name="Michel M Rabet" userId="d42dba726ac374f1" providerId="LiveId" clId="{42C385D4-AC4F-419E-9EEE-A530DF9DE950}" dt="2026-04-27T05:25:18.445" v="51" actId="1076"/>
          <ac:spMkLst>
            <pc:docMk/>
            <pc:sldMk cId="0" sldId="256"/>
            <ac:spMk id="19" creationId="{00000000-0000-0000-0000-000000000000}"/>
          </ac:spMkLst>
        </pc:spChg>
        <pc:spChg chg="mod">
          <ac:chgData name="Michel M Rabet" userId="d42dba726ac374f1" providerId="LiveId" clId="{42C385D4-AC4F-419E-9EEE-A530DF9DE950}" dt="2026-04-27T05:24:47.144" v="46" actId="1076"/>
          <ac:spMkLst>
            <pc:docMk/>
            <pc:sldMk cId="0" sldId="256"/>
            <ac:spMk id="25" creationId="{00000000-0000-0000-0000-000000000000}"/>
          </ac:spMkLst>
        </pc:spChg>
        <pc:spChg chg="mod">
          <ac:chgData name="Michel M Rabet" userId="d42dba726ac374f1" providerId="LiveId" clId="{42C385D4-AC4F-419E-9EEE-A530DF9DE950}" dt="2026-04-27T05:24:50.915" v="47" actId="1076"/>
          <ac:spMkLst>
            <pc:docMk/>
            <pc:sldMk cId="0" sldId="256"/>
            <ac:spMk id="50" creationId="{00000000-0000-0000-0000-000000000000}"/>
          </ac:spMkLst>
        </pc:spChg>
        <pc:spChg chg="mod">
          <ac:chgData name="Michel M Rabet" userId="d42dba726ac374f1" providerId="LiveId" clId="{42C385D4-AC4F-419E-9EEE-A530DF9DE950}" dt="2026-04-27T05:26:40.200" v="57" actId="1076"/>
          <ac:spMkLst>
            <pc:docMk/>
            <pc:sldMk cId="0" sldId="256"/>
            <ac:spMk id="90" creationId="{00000000-0000-0000-0000-000000000000}"/>
          </ac:spMkLst>
        </pc:spChg>
        <pc:spChg chg="mod">
          <ac:chgData name="Michel M Rabet" userId="d42dba726ac374f1" providerId="LiveId" clId="{42C385D4-AC4F-419E-9EEE-A530DF9DE950}" dt="2026-04-27T05:27:42.094" v="60" actId="207"/>
          <ac:spMkLst>
            <pc:docMk/>
            <pc:sldMk cId="0" sldId="256"/>
            <ac:spMk id="95" creationId="{00000000-0000-0000-0000-000000000000}"/>
          </ac:spMkLst>
        </pc:spChg>
        <pc:spChg chg="mod">
          <ac:chgData name="Michel M Rabet" userId="d42dba726ac374f1" providerId="LiveId" clId="{42C385D4-AC4F-419E-9EEE-A530DF9DE950}" dt="2026-04-27T05:30:43.636" v="92" actId="1076"/>
          <ac:spMkLst>
            <pc:docMk/>
            <pc:sldMk cId="0" sldId="256"/>
            <ac:spMk id="96" creationId="{00000000-0000-0000-0000-000000000000}"/>
          </ac:spMkLst>
        </pc:spChg>
        <pc:spChg chg="mod">
          <ac:chgData name="Michel M Rabet" userId="d42dba726ac374f1" providerId="LiveId" clId="{42C385D4-AC4F-419E-9EEE-A530DF9DE950}" dt="2026-04-27T05:24:06.678" v="43" actId="20577"/>
          <ac:spMkLst>
            <pc:docMk/>
            <pc:sldMk cId="0" sldId="256"/>
            <ac:spMk id="99" creationId="{00000000-0000-0000-0000-000000000000}"/>
          </ac:spMkLst>
        </pc:spChg>
        <pc:spChg chg="add del mod">
          <ac:chgData name="Michel M Rabet" userId="d42dba726ac374f1" providerId="LiveId" clId="{42C385D4-AC4F-419E-9EEE-A530DF9DE950}" dt="2026-04-27T05:31:02.684" v="94" actId="13926"/>
          <ac:spMkLst>
            <pc:docMk/>
            <pc:sldMk cId="0" sldId="256"/>
            <ac:spMk id="100" creationId="{00000000-0000-0000-0000-000000000000}"/>
          </ac:spMkLst>
        </pc:spChg>
        <pc:spChg chg="mod">
          <ac:chgData name="Michel M Rabet" userId="d42dba726ac374f1" providerId="LiveId" clId="{42C385D4-AC4F-419E-9EEE-A530DF9DE950}" dt="2026-04-27T05:25:38.777" v="53" actId="1076"/>
          <ac:spMkLst>
            <pc:docMk/>
            <pc:sldMk cId="0" sldId="256"/>
            <ac:spMk id="105" creationId="{00000000-0000-0000-0000-000000000000}"/>
          </ac:spMkLst>
        </pc:spChg>
        <pc:spChg chg="mod">
          <ac:chgData name="Michel M Rabet" userId="d42dba726ac374f1" providerId="LiveId" clId="{42C385D4-AC4F-419E-9EEE-A530DF9DE950}" dt="2026-04-27T05:25:10.588" v="50" actId="1076"/>
          <ac:spMkLst>
            <pc:docMk/>
            <pc:sldMk cId="0" sldId="256"/>
            <ac:spMk id="109" creationId="{00000000-0000-0000-0000-000000000000}"/>
          </ac:spMkLst>
        </pc:spChg>
        <pc:spChg chg="mod">
          <ac:chgData name="Michel M Rabet" userId="d42dba726ac374f1" providerId="LiveId" clId="{42C385D4-AC4F-419E-9EEE-A530DF9DE950}" dt="2026-04-27T05:25:22.041" v="52" actId="1076"/>
          <ac:spMkLst>
            <pc:docMk/>
            <pc:sldMk cId="0" sldId="256"/>
            <ac:spMk id="111" creationId="{00000000-0000-0000-0000-000000000000}"/>
          </ac:spMkLst>
        </pc:spChg>
        <pc:spChg chg="mod">
          <ac:chgData name="Michel M Rabet" userId="d42dba726ac374f1" providerId="LiveId" clId="{42C385D4-AC4F-419E-9EEE-A530DF9DE950}" dt="2026-04-27T05:24:33.662" v="45" actId="14100"/>
          <ac:spMkLst>
            <pc:docMk/>
            <pc:sldMk cId="0" sldId="256"/>
            <ac:spMk id="112" creationId="{00000000-0000-0000-0000-000000000000}"/>
          </ac:spMkLst>
        </pc:spChg>
        <pc:spChg chg="mod">
          <ac:chgData name="Michel M Rabet" userId="d42dba726ac374f1" providerId="LiveId" clId="{42C385D4-AC4F-419E-9EEE-A530DF9DE950}" dt="2026-04-27T05:24:59.462" v="48" actId="1076"/>
          <ac:spMkLst>
            <pc:docMk/>
            <pc:sldMk cId="0" sldId="256"/>
            <ac:spMk id="113" creationId="{00000000-0000-0000-0000-000000000000}"/>
          </ac:spMkLst>
        </pc:spChg>
        <pc:spChg chg="mod">
          <ac:chgData name="Michel M Rabet" userId="d42dba726ac374f1" providerId="LiveId" clId="{42C385D4-AC4F-419E-9EEE-A530DF9DE950}" dt="2026-04-27T05:26:30.319" v="55" actId="1076"/>
          <ac:spMkLst>
            <pc:docMk/>
            <pc:sldMk cId="0" sldId="256"/>
            <ac:spMk id="114" creationId="{00000000-0000-0000-0000-000000000000}"/>
          </ac:spMkLst>
        </pc:spChg>
        <pc:spChg chg="mod">
          <ac:chgData name="Michel M Rabet" userId="d42dba726ac374f1" providerId="LiveId" clId="{42C385D4-AC4F-419E-9EEE-A530DF9DE950}" dt="2026-04-27T05:26:35.238" v="56" actId="1076"/>
          <ac:spMkLst>
            <pc:docMk/>
            <pc:sldMk cId="0" sldId="256"/>
            <ac:spMk id="115" creationId="{00000000-0000-0000-0000-000000000000}"/>
          </ac:spMkLst>
        </pc:spChg>
        <pc:spChg chg="mod">
          <ac:chgData name="Michel M Rabet" userId="d42dba726ac374f1" providerId="LiveId" clId="{42C385D4-AC4F-419E-9EEE-A530DF9DE950}" dt="2026-04-27T05:33:07.364" v="105" actId="1076"/>
          <ac:spMkLst>
            <pc:docMk/>
            <pc:sldMk cId="0" sldId="256"/>
            <ac:spMk id="118" creationId="{00000000-0000-0000-0000-000000000000}"/>
          </ac:spMkLst>
        </pc:spChg>
        <pc:spChg chg="mod">
          <ac:chgData name="Michel M Rabet" userId="d42dba726ac374f1" providerId="LiveId" clId="{42C385D4-AC4F-419E-9EEE-A530DF9DE950}" dt="2026-04-27T05:31:33.574" v="97" actId="1076"/>
          <ac:spMkLst>
            <pc:docMk/>
            <pc:sldMk cId="0" sldId="256"/>
            <ac:spMk id="154" creationId="{00000000-0000-0000-0000-000000000000}"/>
          </ac:spMkLst>
        </pc:spChg>
        <pc:spChg chg="mod">
          <ac:chgData name="Michel M Rabet" userId="d42dba726ac374f1" providerId="LiveId" clId="{42C385D4-AC4F-419E-9EEE-A530DF9DE950}" dt="2026-04-27T05:31:40.252" v="98" actId="1076"/>
          <ac:spMkLst>
            <pc:docMk/>
            <pc:sldMk cId="0" sldId="256"/>
            <ac:spMk id="158" creationId="{00000000-0000-0000-0000-000000000000}"/>
          </ac:spMkLst>
        </pc:spChg>
        <pc:spChg chg="mod">
          <ac:chgData name="Michel M Rabet" userId="d42dba726ac374f1" providerId="LiveId" clId="{42C385D4-AC4F-419E-9EEE-A530DF9DE950}" dt="2026-04-27T05:32:02.166" v="101" actId="1076"/>
          <ac:spMkLst>
            <pc:docMk/>
            <pc:sldMk cId="0" sldId="256"/>
            <ac:spMk id="165" creationId="{00000000-0000-0000-0000-000000000000}"/>
          </ac:spMkLst>
        </pc:spChg>
        <pc:spChg chg="mod">
          <ac:chgData name="Michel M Rabet" userId="d42dba726ac374f1" providerId="LiveId" clId="{42C385D4-AC4F-419E-9EEE-A530DF9DE950}" dt="2026-04-27T05:32:20.305" v="104" actId="1076"/>
          <ac:spMkLst>
            <pc:docMk/>
            <pc:sldMk cId="0" sldId="256"/>
            <ac:spMk id="172" creationId="{00000000-0000-0000-0000-000000000000}"/>
          </ac:spMkLst>
        </pc:spChg>
        <pc:spChg chg="mod">
          <ac:chgData name="Michel M Rabet" userId="d42dba726ac374f1" providerId="LiveId" clId="{42C385D4-AC4F-419E-9EEE-A530DF9DE950}" dt="2026-04-27T05:33:39.409" v="111" actId="1076"/>
          <ac:spMkLst>
            <pc:docMk/>
            <pc:sldMk cId="0" sldId="256"/>
            <ac:spMk id="202" creationId="{00000000-0000-0000-0000-000000000000}"/>
          </ac:spMkLst>
        </pc:spChg>
        <pc:spChg chg="mod">
          <ac:chgData name="Michel M Rabet" userId="d42dba726ac374f1" providerId="LiveId" clId="{42C385D4-AC4F-419E-9EEE-A530DF9DE950}" dt="2026-04-27T05:34:05.474" v="122" actId="20577"/>
          <ac:spMkLst>
            <pc:docMk/>
            <pc:sldMk cId="0" sldId="256"/>
            <ac:spMk id="203" creationId="{00000000-0000-0000-0000-000000000000}"/>
          </ac:spMkLst>
        </pc:spChg>
        <pc:spChg chg="mod">
          <ac:chgData name="Michel M Rabet" userId="d42dba726ac374f1" providerId="LiveId" clId="{42C385D4-AC4F-419E-9EEE-A530DF9DE950}" dt="2026-04-27T05:33:28.879" v="109" actId="113"/>
          <ac:spMkLst>
            <pc:docMk/>
            <pc:sldMk cId="0" sldId="256"/>
            <ac:spMk id="210" creationId="{00000000-0000-0000-0000-000000000000}"/>
          </ac:spMkLst>
        </pc:spChg>
        <pc:spChg chg="mod">
          <ac:chgData name="Michel M Rabet" userId="d42dba726ac374f1" providerId="LiveId" clId="{42C385D4-AC4F-419E-9EEE-A530DF9DE950}" dt="2026-04-27T05:34:38.830" v="128" actId="13926"/>
          <ac:spMkLst>
            <pc:docMk/>
            <pc:sldMk cId="0" sldId="256"/>
            <ac:spMk id="217" creationId="{00000000-0000-0000-0000-000000000000}"/>
          </ac:spMkLst>
        </pc:spChg>
        <pc:spChg chg="mod">
          <ac:chgData name="Michel M Rabet" userId="d42dba726ac374f1" providerId="LiveId" clId="{42C385D4-AC4F-419E-9EEE-A530DF9DE950}" dt="2026-04-27T05:47:53.958" v="242" actId="13926"/>
          <ac:spMkLst>
            <pc:docMk/>
            <pc:sldMk cId="0" sldId="256"/>
            <ac:spMk id="224" creationId="{00000000-0000-0000-0000-000000000000}"/>
          </ac:spMkLst>
        </pc:spChg>
        <pc:spChg chg="mod">
          <ac:chgData name="Michel M Rabet" userId="d42dba726ac374f1" providerId="LiveId" clId="{42C385D4-AC4F-419E-9EEE-A530DF9DE950}" dt="2026-04-27T05:48:07.205" v="243" actId="14100"/>
          <ac:spMkLst>
            <pc:docMk/>
            <pc:sldMk cId="0" sldId="256"/>
            <ac:spMk id="225" creationId="{00000000-0000-0000-0000-000000000000}"/>
          </ac:spMkLst>
        </pc:spChg>
        <pc:spChg chg="mod">
          <ac:chgData name="Michel M Rabet" userId="d42dba726ac374f1" providerId="LiveId" clId="{42C385D4-AC4F-419E-9EEE-A530DF9DE950}" dt="2026-04-27T05:48:33.070" v="247" actId="13926"/>
          <ac:spMkLst>
            <pc:docMk/>
            <pc:sldMk cId="0" sldId="256"/>
            <ac:spMk id="238" creationId="{00000000-0000-0000-0000-000000000000}"/>
          </ac:spMkLst>
        </pc:spChg>
        <pc:spChg chg="mod">
          <ac:chgData name="Michel M Rabet" userId="d42dba726ac374f1" providerId="LiveId" clId="{42C385D4-AC4F-419E-9EEE-A530DF9DE950}" dt="2026-04-27T05:48:49.349" v="250" actId="13926"/>
          <ac:spMkLst>
            <pc:docMk/>
            <pc:sldMk cId="0" sldId="256"/>
            <ac:spMk id="245" creationId="{00000000-0000-0000-0000-000000000000}"/>
          </ac:spMkLst>
        </pc:spChg>
        <pc:spChg chg="mod">
          <ac:chgData name="Michel M Rabet" userId="d42dba726ac374f1" providerId="LiveId" clId="{42C385D4-AC4F-419E-9EEE-A530DF9DE950}" dt="2026-04-27T05:22:13.771" v="26" actId="1076"/>
          <ac:spMkLst>
            <pc:docMk/>
            <pc:sldMk cId="0" sldId="256"/>
            <ac:spMk id="246" creationId="{00000000-0000-0000-0000-000000000000}"/>
          </ac:spMkLst>
        </pc:spChg>
        <pc:spChg chg="mod">
          <ac:chgData name="Michel M Rabet" userId="d42dba726ac374f1" providerId="LiveId" clId="{42C385D4-AC4F-419E-9EEE-A530DF9DE950}" dt="2026-04-27T05:23:38.710" v="33" actId="1076"/>
          <ac:spMkLst>
            <pc:docMk/>
            <pc:sldMk cId="0" sldId="256"/>
            <ac:spMk id="247" creationId="{00000000-0000-0000-0000-000000000000}"/>
          </ac:spMkLst>
        </pc:spChg>
        <pc:spChg chg="mod">
          <ac:chgData name="Michel M Rabet" userId="d42dba726ac374f1" providerId="LiveId" clId="{42C385D4-AC4F-419E-9EEE-A530DF9DE950}" dt="2026-04-29T11:16:06.162" v="312" actId="1076"/>
          <ac:spMkLst>
            <pc:docMk/>
            <pc:sldMk cId="0" sldId="256"/>
            <ac:spMk id="258" creationId="{00000000-0000-0000-0000-000000000000}"/>
          </ac:spMkLst>
        </pc:spChg>
        <pc:spChg chg="mod">
          <ac:chgData name="Michel M Rabet" userId="d42dba726ac374f1" providerId="LiveId" clId="{42C385D4-AC4F-419E-9EEE-A530DF9DE950}" dt="2026-04-29T11:16:27.941" v="314" actId="1076"/>
          <ac:spMkLst>
            <pc:docMk/>
            <pc:sldMk cId="0" sldId="256"/>
            <ac:spMk id="259" creationId="{00000000-0000-0000-0000-000000000000}"/>
          </ac:spMkLst>
        </pc:spChg>
        <pc:spChg chg="mod">
          <ac:chgData name="Michel M Rabet" userId="d42dba726ac374f1" providerId="LiveId" clId="{42C385D4-AC4F-419E-9EEE-A530DF9DE950}" dt="2026-04-29T11:15:58.165" v="310" actId="1076"/>
          <ac:spMkLst>
            <pc:docMk/>
            <pc:sldMk cId="0" sldId="256"/>
            <ac:spMk id="261" creationId="{00000000-0000-0000-0000-000000000000}"/>
          </ac:spMkLst>
        </pc:spChg>
        <pc:spChg chg="mod">
          <ac:chgData name="Michel M Rabet" userId="d42dba726ac374f1" providerId="LiveId" clId="{42C385D4-AC4F-419E-9EEE-A530DF9DE950}" dt="2026-04-27T05:35:22.011" v="130" actId="1076"/>
          <ac:spMkLst>
            <pc:docMk/>
            <pc:sldMk cId="0" sldId="256"/>
            <ac:spMk id="273" creationId="{00000000-0000-0000-0000-000000000000}"/>
          </ac:spMkLst>
        </pc:spChg>
        <pc:spChg chg="mod">
          <ac:chgData name="Michel M Rabet" userId="d42dba726ac374f1" providerId="LiveId" clId="{42C385D4-AC4F-419E-9EEE-A530DF9DE950}" dt="2026-04-27T05:35:28.216" v="131" actId="1076"/>
          <ac:spMkLst>
            <pc:docMk/>
            <pc:sldMk cId="0" sldId="256"/>
            <ac:spMk id="276" creationId="{00000000-0000-0000-0000-000000000000}"/>
          </ac:spMkLst>
        </pc:spChg>
        <pc:spChg chg="mod">
          <ac:chgData name="Michel M Rabet" userId="d42dba726ac374f1" providerId="LiveId" clId="{42C385D4-AC4F-419E-9EEE-A530DF9DE950}" dt="2026-04-27T05:35:16.477" v="129" actId="1076"/>
          <ac:spMkLst>
            <pc:docMk/>
            <pc:sldMk cId="0" sldId="256"/>
            <ac:spMk id="284" creationId="{00000000-0000-0000-0000-000000000000}"/>
          </ac:spMkLst>
        </pc:spChg>
        <pc:spChg chg="mod">
          <ac:chgData name="Michel M Rabet" userId="d42dba726ac374f1" providerId="LiveId" clId="{42C385D4-AC4F-419E-9EEE-A530DF9DE950}" dt="2026-04-29T11:16:19.757" v="313" actId="1076"/>
          <ac:spMkLst>
            <pc:docMk/>
            <pc:sldMk cId="0" sldId="256"/>
            <ac:spMk id="303" creationId="{00000000-0000-0000-0000-000000000000}"/>
          </ac:spMkLst>
        </pc:spChg>
        <pc:spChg chg="mod">
          <ac:chgData name="Michel M Rabet" userId="d42dba726ac374f1" providerId="LiveId" clId="{42C385D4-AC4F-419E-9EEE-A530DF9DE950}" dt="2026-04-27T05:33:33.724" v="110" actId="1076"/>
          <ac:spMkLst>
            <pc:docMk/>
            <pc:sldMk cId="0" sldId="256"/>
            <ac:spMk id="304" creationId="{00000000-0000-0000-0000-000000000000}"/>
          </ac:spMkLst>
        </pc:spChg>
        <pc:spChg chg="mod">
          <ac:chgData name="Michel M Rabet" userId="d42dba726ac374f1" providerId="LiveId" clId="{42C385D4-AC4F-419E-9EEE-A530DF9DE950}" dt="2026-04-27T05:46:29.820" v="237" actId="1076"/>
          <ac:spMkLst>
            <pc:docMk/>
            <pc:sldMk cId="0" sldId="256"/>
            <ac:spMk id="319" creationId="{00000000-0000-0000-0000-000000000000}"/>
          </ac:spMkLst>
        </pc:spChg>
        <pc:spChg chg="mod">
          <ac:chgData name="Michel M Rabet" userId="d42dba726ac374f1" providerId="LiveId" clId="{42C385D4-AC4F-419E-9EEE-A530DF9DE950}" dt="2026-04-27T05:35:58.291" v="135" actId="1076"/>
          <ac:spMkLst>
            <pc:docMk/>
            <pc:sldMk cId="0" sldId="256"/>
            <ac:spMk id="348" creationId="{00000000-0000-0000-0000-000000000000}"/>
          </ac:spMkLst>
        </pc:spChg>
        <pc:spChg chg="mod">
          <ac:chgData name="Michel M Rabet" userId="d42dba726ac374f1" providerId="LiveId" clId="{42C385D4-AC4F-419E-9EEE-A530DF9DE950}" dt="2026-04-27T05:35:55.668" v="134" actId="1076"/>
          <ac:spMkLst>
            <pc:docMk/>
            <pc:sldMk cId="0" sldId="256"/>
            <ac:spMk id="355" creationId="{00000000-0000-0000-0000-000000000000}"/>
          </ac:spMkLst>
        </pc:spChg>
        <pc:spChg chg="mod">
          <ac:chgData name="Michel M Rabet" userId="d42dba726ac374f1" providerId="LiveId" clId="{42C385D4-AC4F-419E-9EEE-A530DF9DE950}" dt="2026-04-27T05:35:53.536" v="133" actId="1076"/>
          <ac:spMkLst>
            <pc:docMk/>
            <pc:sldMk cId="0" sldId="256"/>
            <ac:spMk id="358" creationId="{00000000-0000-0000-0000-000000000000}"/>
          </ac:spMkLst>
        </pc:spChg>
        <pc:spChg chg="mod">
          <ac:chgData name="Michel M Rabet" userId="d42dba726ac374f1" providerId="LiveId" clId="{42C385D4-AC4F-419E-9EEE-A530DF9DE950}" dt="2026-04-27T05:34:16.768" v="124" actId="1076"/>
          <ac:spMkLst>
            <pc:docMk/>
            <pc:sldMk cId="0" sldId="256"/>
            <ac:spMk id="361" creationId="{00000000-0000-0000-0000-000000000000}"/>
          </ac:spMkLst>
        </pc:spChg>
        <pc:spChg chg="mod">
          <ac:chgData name="Michel M Rabet" userId="d42dba726ac374f1" providerId="LiveId" clId="{42C385D4-AC4F-419E-9EEE-A530DF9DE950}" dt="2026-04-27T05:34:13.729" v="123" actId="1076"/>
          <ac:spMkLst>
            <pc:docMk/>
            <pc:sldMk cId="0" sldId="256"/>
            <ac:spMk id="371" creationId="{00000000-0000-0000-0000-000000000000}"/>
          </ac:spMkLst>
        </pc:spChg>
        <pc:spChg chg="mod">
          <ac:chgData name="Michel M Rabet" userId="d42dba726ac374f1" providerId="LiveId" clId="{42C385D4-AC4F-419E-9EEE-A530DF9DE950}" dt="2026-04-27T05:46:35.631" v="238" actId="1076"/>
          <ac:spMkLst>
            <pc:docMk/>
            <pc:sldMk cId="0" sldId="256"/>
            <ac:spMk id="373" creationId="{00000000-0000-0000-0000-000000000000}"/>
          </ac:spMkLst>
        </pc:spChg>
        <pc:spChg chg="mod">
          <ac:chgData name="Michel M Rabet" userId="d42dba726ac374f1" providerId="LiveId" clId="{42C385D4-AC4F-419E-9EEE-A530DF9DE950}" dt="2026-04-27T05:54:32.845" v="305" actId="20577"/>
          <ac:spMkLst>
            <pc:docMk/>
            <pc:sldMk cId="0" sldId="256"/>
            <ac:spMk id="374" creationId="{00000000-0000-0000-0000-000000000000}"/>
          </ac:spMkLst>
        </pc:spChg>
        <pc:spChg chg="mod">
          <ac:chgData name="Michel M Rabet" userId="d42dba726ac374f1" providerId="LiveId" clId="{42C385D4-AC4F-419E-9EEE-A530DF9DE950}" dt="2026-04-27T05:42:18.532" v="204" actId="1076"/>
          <ac:spMkLst>
            <pc:docMk/>
            <pc:sldMk cId="0" sldId="256"/>
            <ac:spMk id="375" creationId="{00000000-0000-0000-0000-000000000000}"/>
          </ac:spMkLst>
        </pc:spChg>
        <pc:spChg chg="mod">
          <ac:chgData name="Michel M Rabet" userId="d42dba726ac374f1" providerId="LiveId" clId="{42C385D4-AC4F-419E-9EEE-A530DF9DE950}" dt="2026-04-27T05:36:57.215" v="139" actId="14100"/>
          <ac:spMkLst>
            <pc:docMk/>
            <pc:sldMk cId="0" sldId="256"/>
            <ac:spMk id="377" creationId="{00000000-0000-0000-0000-000000000000}"/>
          </ac:spMkLst>
        </pc:spChg>
        <pc:spChg chg="mod">
          <ac:chgData name="Michel M Rabet" userId="d42dba726ac374f1" providerId="LiveId" clId="{42C385D4-AC4F-419E-9EEE-A530DF9DE950}" dt="2026-04-27T05:36:32.198" v="138" actId="1076"/>
          <ac:spMkLst>
            <pc:docMk/>
            <pc:sldMk cId="0" sldId="256"/>
            <ac:spMk id="381" creationId="{00000000-0000-0000-0000-000000000000}"/>
          </ac:spMkLst>
        </pc:spChg>
        <pc:spChg chg="mod">
          <ac:chgData name="Michel M Rabet" userId="d42dba726ac374f1" providerId="LiveId" clId="{42C385D4-AC4F-419E-9EEE-A530DF9DE950}" dt="2026-04-27T05:37:37.418" v="147" actId="1076"/>
          <ac:spMkLst>
            <pc:docMk/>
            <pc:sldMk cId="0" sldId="256"/>
            <ac:spMk id="382" creationId="{00000000-0000-0000-0000-000000000000}"/>
          </ac:spMkLst>
        </pc:spChg>
        <pc:spChg chg="mod">
          <ac:chgData name="Michel M Rabet" userId="d42dba726ac374f1" providerId="LiveId" clId="{42C385D4-AC4F-419E-9EEE-A530DF9DE950}" dt="2026-04-27T05:44:05.462" v="225" actId="1076"/>
          <ac:spMkLst>
            <pc:docMk/>
            <pc:sldMk cId="0" sldId="256"/>
            <ac:spMk id="383" creationId="{00000000-0000-0000-0000-000000000000}"/>
          </ac:spMkLst>
        </pc:spChg>
        <pc:spChg chg="mod">
          <ac:chgData name="Michel M Rabet" userId="d42dba726ac374f1" providerId="LiveId" clId="{42C385D4-AC4F-419E-9EEE-A530DF9DE950}" dt="2026-04-27T05:37:53.353" v="149" actId="1076"/>
          <ac:spMkLst>
            <pc:docMk/>
            <pc:sldMk cId="0" sldId="256"/>
            <ac:spMk id="385" creationId="{00000000-0000-0000-0000-000000000000}"/>
          </ac:spMkLst>
        </pc:spChg>
        <pc:spChg chg="mod">
          <ac:chgData name="Michel M Rabet" userId="d42dba726ac374f1" providerId="LiveId" clId="{42C385D4-AC4F-419E-9EEE-A530DF9DE950}" dt="2026-04-27T05:37:32.108" v="146" actId="1076"/>
          <ac:spMkLst>
            <pc:docMk/>
            <pc:sldMk cId="0" sldId="256"/>
            <ac:spMk id="386" creationId="{00000000-0000-0000-0000-000000000000}"/>
          </ac:spMkLst>
        </pc:spChg>
        <pc:spChg chg="mod">
          <ac:chgData name="Michel M Rabet" userId="d42dba726ac374f1" providerId="LiveId" clId="{42C385D4-AC4F-419E-9EEE-A530DF9DE950}" dt="2026-04-27T05:38:48.168" v="158" actId="1076"/>
          <ac:spMkLst>
            <pc:docMk/>
            <pc:sldMk cId="0" sldId="256"/>
            <ac:spMk id="387" creationId="{00000000-0000-0000-0000-000000000000}"/>
          </ac:spMkLst>
        </pc:spChg>
        <pc:spChg chg="mod">
          <ac:chgData name="Michel M Rabet" userId="d42dba726ac374f1" providerId="LiveId" clId="{42C385D4-AC4F-419E-9EEE-A530DF9DE950}" dt="2026-04-27T05:38:54.929" v="160" actId="1076"/>
          <ac:spMkLst>
            <pc:docMk/>
            <pc:sldMk cId="0" sldId="256"/>
            <ac:spMk id="389" creationId="{00000000-0000-0000-0000-000000000000}"/>
          </ac:spMkLst>
        </pc:spChg>
        <pc:spChg chg="mod">
          <ac:chgData name="Michel M Rabet" userId="d42dba726ac374f1" providerId="LiveId" clId="{42C385D4-AC4F-419E-9EEE-A530DF9DE950}" dt="2026-04-27T05:38:52.288" v="159" actId="1076"/>
          <ac:spMkLst>
            <pc:docMk/>
            <pc:sldMk cId="0" sldId="256"/>
            <ac:spMk id="391" creationId="{00000000-0000-0000-0000-000000000000}"/>
          </ac:spMkLst>
        </pc:spChg>
        <pc:spChg chg="mod">
          <ac:chgData name="Michel M Rabet" userId="d42dba726ac374f1" providerId="LiveId" clId="{42C385D4-AC4F-419E-9EEE-A530DF9DE950}" dt="2026-04-27T05:43:36.913" v="219" actId="1076"/>
          <ac:spMkLst>
            <pc:docMk/>
            <pc:sldMk cId="0" sldId="256"/>
            <ac:spMk id="392" creationId="{00000000-0000-0000-0000-000000000000}"/>
          </ac:spMkLst>
        </pc:spChg>
        <pc:spChg chg="mod">
          <ac:chgData name="Michel M Rabet" userId="d42dba726ac374f1" providerId="LiveId" clId="{42C385D4-AC4F-419E-9EEE-A530DF9DE950}" dt="2026-04-27T05:43:51.248" v="222" actId="1076"/>
          <ac:spMkLst>
            <pc:docMk/>
            <pc:sldMk cId="0" sldId="256"/>
            <ac:spMk id="393" creationId="{00000000-0000-0000-0000-000000000000}"/>
          </ac:spMkLst>
        </pc:spChg>
        <pc:spChg chg="mod">
          <ac:chgData name="Michel M Rabet" userId="d42dba726ac374f1" providerId="LiveId" clId="{42C385D4-AC4F-419E-9EEE-A530DF9DE950}" dt="2026-04-27T05:43:45.830" v="220" actId="1076"/>
          <ac:spMkLst>
            <pc:docMk/>
            <pc:sldMk cId="0" sldId="256"/>
            <ac:spMk id="396" creationId="{00000000-0000-0000-0000-000000000000}"/>
          </ac:spMkLst>
        </pc:spChg>
        <pc:spChg chg="mod">
          <ac:chgData name="Michel M Rabet" userId="d42dba726ac374f1" providerId="LiveId" clId="{42C385D4-AC4F-419E-9EEE-A530DF9DE950}" dt="2026-04-27T05:41:30.211" v="194" actId="1076"/>
          <ac:spMkLst>
            <pc:docMk/>
            <pc:sldMk cId="0" sldId="256"/>
            <ac:spMk id="397" creationId="{00000000-0000-0000-0000-000000000000}"/>
          </ac:spMkLst>
        </pc:spChg>
        <pc:spChg chg="mod">
          <ac:chgData name="Michel M Rabet" userId="d42dba726ac374f1" providerId="LiveId" clId="{42C385D4-AC4F-419E-9EEE-A530DF9DE950}" dt="2026-04-27T05:41:19.290" v="192" actId="1076"/>
          <ac:spMkLst>
            <pc:docMk/>
            <pc:sldMk cId="0" sldId="256"/>
            <ac:spMk id="401" creationId="{00000000-0000-0000-0000-000000000000}"/>
          </ac:spMkLst>
        </pc:spChg>
        <pc:spChg chg="mod">
          <ac:chgData name="Michel M Rabet" userId="d42dba726ac374f1" providerId="LiveId" clId="{42C385D4-AC4F-419E-9EEE-A530DF9DE950}" dt="2026-04-27T05:42:29.052" v="206" actId="1076"/>
          <ac:spMkLst>
            <pc:docMk/>
            <pc:sldMk cId="0" sldId="256"/>
            <ac:spMk id="402" creationId="{00000000-0000-0000-0000-000000000000}"/>
          </ac:spMkLst>
        </pc:spChg>
        <pc:spChg chg="mod">
          <ac:chgData name="Michel M Rabet" userId="d42dba726ac374f1" providerId="LiveId" clId="{42C385D4-AC4F-419E-9EEE-A530DF9DE950}" dt="2026-04-27T05:42:39.044" v="209" actId="1076"/>
          <ac:spMkLst>
            <pc:docMk/>
            <pc:sldMk cId="0" sldId="256"/>
            <ac:spMk id="403" creationId="{00000000-0000-0000-0000-000000000000}"/>
          </ac:spMkLst>
        </pc:spChg>
        <pc:spChg chg="mod">
          <ac:chgData name="Michel M Rabet" userId="d42dba726ac374f1" providerId="LiveId" clId="{42C385D4-AC4F-419E-9EEE-A530DF9DE950}" dt="2026-04-27T05:42:44.425" v="210" actId="1076"/>
          <ac:spMkLst>
            <pc:docMk/>
            <pc:sldMk cId="0" sldId="256"/>
            <ac:spMk id="405" creationId="{00000000-0000-0000-0000-000000000000}"/>
          </ac:spMkLst>
        </pc:spChg>
        <pc:spChg chg="mod">
          <ac:chgData name="Michel M Rabet" userId="d42dba726ac374f1" providerId="LiveId" clId="{42C385D4-AC4F-419E-9EEE-A530DF9DE950}" dt="2026-04-27T05:42:23.062" v="205" actId="1076"/>
          <ac:spMkLst>
            <pc:docMk/>
            <pc:sldMk cId="0" sldId="256"/>
            <ac:spMk id="406" creationId="{00000000-0000-0000-0000-000000000000}"/>
          </ac:spMkLst>
        </pc:spChg>
        <pc:spChg chg="mod">
          <ac:chgData name="Michel M Rabet" userId="d42dba726ac374f1" providerId="LiveId" clId="{42C385D4-AC4F-419E-9EEE-A530DF9DE950}" dt="2026-04-27T05:21:11.025" v="21" actId="1076"/>
          <ac:spMkLst>
            <pc:docMk/>
            <pc:sldMk cId="0" sldId="256"/>
            <ac:spMk id="410" creationId="{00000000-0000-0000-0000-000000000000}"/>
          </ac:spMkLst>
        </pc:spChg>
        <pc:spChg chg="mod">
          <ac:chgData name="Michel M Rabet" userId="d42dba726ac374f1" providerId="LiveId" clId="{42C385D4-AC4F-419E-9EEE-A530DF9DE950}" dt="2026-04-27T05:18:21.461" v="0" actId="164"/>
          <ac:spMkLst>
            <pc:docMk/>
            <pc:sldMk cId="0" sldId="256"/>
            <ac:spMk id="414" creationId="{00000000-0000-0000-0000-000000000000}"/>
          </ac:spMkLst>
        </pc:spChg>
        <pc:spChg chg="mod">
          <ac:chgData name="Michel M Rabet" userId="d42dba726ac374f1" providerId="LiveId" clId="{42C385D4-AC4F-419E-9EEE-A530DF9DE950}" dt="2026-04-27T05:18:21.461" v="0" actId="164"/>
          <ac:spMkLst>
            <pc:docMk/>
            <pc:sldMk cId="0" sldId="256"/>
            <ac:spMk id="415" creationId="{00000000-0000-0000-0000-000000000000}"/>
          </ac:spMkLst>
        </pc:spChg>
        <pc:spChg chg="mod">
          <ac:chgData name="Michel M Rabet" userId="d42dba726ac374f1" providerId="LiveId" clId="{42C385D4-AC4F-419E-9EEE-A530DF9DE950}" dt="2026-04-27T05:18:21.461" v="0" actId="164"/>
          <ac:spMkLst>
            <pc:docMk/>
            <pc:sldMk cId="0" sldId="256"/>
            <ac:spMk id="417" creationId="{00000000-0000-0000-0000-000000000000}"/>
          </ac:spMkLst>
        </pc:spChg>
        <pc:spChg chg="mod">
          <ac:chgData name="Michel M Rabet" userId="d42dba726ac374f1" providerId="LiveId" clId="{42C385D4-AC4F-419E-9EEE-A530DF9DE950}" dt="2026-04-27T05:18:21.461" v="0" actId="164"/>
          <ac:spMkLst>
            <pc:docMk/>
            <pc:sldMk cId="0" sldId="256"/>
            <ac:spMk id="418" creationId="{00000000-0000-0000-0000-000000000000}"/>
          </ac:spMkLst>
        </pc:spChg>
        <pc:spChg chg="mod">
          <ac:chgData name="Michel M Rabet" userId="d42dba726ac374f1" providerId="LiveId" clId="{42C385D4-AC4F-419E-9EEE-A530DF9DE950}" dt="2026-04-27T05:18:21.461" v="0" actId="164"/>
          <ac:spMkLst>
            <pc:docMk/>
            <pc:sldMk cId="0" sldId="256"/>
            <ac:spMk id="421" creationId="{00000000-0000-0000-0000-000000000000}"/>
          </ac:spMkLst>
        </pc:spChg>
        <pc:spChg chg="mod">
          <ac:chgData name="Michel M Rabet" userId="d42dba726ac374f1" providerId="LiveId" clId="{42C385D4-AC4F-419E-9EEE-A530DF9DE950}" dt="2026-04-27T05:18:21.461" v="0" actId="164"/>
          <ac:spMkLst>
            <pc:docMk/>
            <pc:sldMk cId="0" sldId="256"/>
            <ac:spMk id="423" creationId="{00000000-0000-0000-0000-000000000000}"/>
          </ac:spMkLst>
        </pc:spChg>
        <pc:spChg chg="mod">
          <ac:chgData name="Michel M Rabet" userId="d42dba726ac374f1" providerId="LiveId" clId="{42C385D4-AC4F-419E-9EEE-A530DF9DE950}" dt="2026-04-27T05:18:21.461" v="0" actId="164"/>
          <ac:spMkLst>
            <pc:docMk/>
            <pc:sldMk cId="0" sldId="256"/>
            <ac:spMk id="426" creationId="{00000000-0000-0000-0000-000000000000}"/>
          </ac:spMkLst>
        </pc:spChg>
        <pc:spChg chg="mod">
          <ac:chgData name="Michel M Rabet" userId="d42dba726ac374f1" providerId="LiveId" clId="{42C385D4-AC4F-419E-9EEE-A530DF9DE950}" dt="2026-04-27T05:18:21.461" v="0" actId="164"/>
          <ac:spMkLst>
            <pc:docMk/>
            <pc:sldMk cId="0" sldId="256"/>
            <ac:spMk id="428" creationId="{00000000-0000-0000-0000-000000000000}"/>
          </ac:spMkLst>
        </pc:spChg>
        <pc:spChg chg="mod">
          <ac:chgData name="Michel M Rabet" userId="d42dba726ac374f1" providerId="LiveId" clId="{42C385D4-AC4F-419E-9EEE-A530DF9DE950}" dt="2026-04-27T05:21:49.588" v="25" actId="207"/>
          <ac:spMkLst>
            <pc:docMk/>
            <pc:sldMk cId="0" sldId="256"/>
            <ac:spMk id="430" creationId="{00000000-0000-0000-0000-000000000000}"/>
          </ac:spMkLst>
        </pc:spChg>
        <pc:spChg chg="mod">
          <ac:chgData name="Michel M Rabet" userId="d42dba726ac374f1" providerId="LiveId" clId="{42C385D4-AC4F-419E-9EEE-A530DF9DE950}" dt="2026-04-27T05:18:21.461" v="0" actId="164"/>
          <ac:spMkLst>
            <pc:docMk/>
            <pc:sldMk cId="0" sldId="256"/>
            <ac:spMk id="437" creationId="{00000000-0000-0000-0000-000000000000}"/>
          </ac:spMkLst>
        </pc:spChg>
        <pc:spChg chg="mod">
          <ac:chgData name="Michel M Rabet" userId="d42dba726ac374f1" providerId="LiveId" clId="{42C385D4-AC4F-419E-9EEE-A530DF9DE950}" dt="2026-04-27T05:18:21.461" v="0" actId="164"/>
          <ac:spMkLst>
            <pc:docMk/>
            <pc:sldMk cId="0" sldId="256"/>
            <ac:spMk id="439" creationId="{00000000-0000-0000-0000-000000000000}"/>
          </ac:spMkLst>
        </pc:spChg>
        <pc:spChg chg="add mod">
          <ac:chgData name="Michel M Rabet" userId="d42dba726ac374f1" providerId="LiveId" clId="{42C385D4-AC4F-419E-9EEE-A530DF9DE950}" dt="2026-04-29T11:15:28.254" v="307" actId="1076"/>
          <ac:spMkLst>
            <pc:docMk/>
            <pc:sldMk cId="0" sldId="256"/>
            <ac:spMk id="445" creationId="{A3C3B4AE-9F17-626F-3D4A-50AD0F7096ED}"/>
          </ac:spMkLst>
        </pc:spChg>
        <pc:spChg chg="add mod ord">
          <ac:chgData name="Michel M Rabet" userId="d42dba726ac374f1" providerId="LiveId" clId="{42C385D4-AC4F-419E-9EEE-A530DF9DE950}" dt="2026-04-29T11:15:18.308" v="306" actId="1076"/>
          <ac:spMkLst>
            <pc:docMk/>
            <pc:sldMk cId="0" sldId="256"/>
            <ac:spMk id="446" creationId="{8D339E31-DEAB-F056-AC4C-A61439796B5C}"/>
          </ac:spMkLst>
        </pc:spChg>
        <pc:grpChg chg="mod">
          <ac:chgData name="Michel M Rabet" userId="d42dba726ac374f1" providerId="LiveId" clId="{42C385D4-AC4F-419E-9EEE-A530DF9DE950}" dt="2026-04-27T05:21:05.220" v="20" actId="1076"/>
          <ac:grpSpMkLst>
            <pc:docMk/>
            <pc:sldMk cId="0" sldId="256"/>
            <ac:grpSpMk id="444" creationId="{7FAFE6BC-28A7-7214-57E3-5B228047EA0C}"/>
          </ac:grpSpMkLst>
        </pc:gr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756453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Rectangle 445">
            <a:extLst>
              <a:ext uri="{FF2B5EF4-FFF2-40B4-BE49-F238E27FC236}">
                <a16:creationId xmlns:a16="http://schemas.microsoft.com/office/drawing/2014/main" id="{8D339E31-DEAB-F056-AC4C-A61439796B5C}"/>
              </a:ext>
            </a:extLst>
          </p:cNvPr>
          <p:cNvSpPr/>
          <p:nvPr/>
        </p:nvSpPr>
        <p:spPr>
          <a:xfrm>
            <a:off x="78325" y="6260613"/>
            <a:ext cx="27097643" cy="39098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27432000" cy="5943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" name="Shape 1"/>
          <p:cNvSpPr/>
          <p:nvPr/>
        </p:nvSpPr>
        <p:spPr>
          <a:xfrm>
            <a:off x="0" y="594360"/>
            <a:ext cx="27432000" cy="0"/>
          </a:xfrm>
          <a:prstGeom prst="line">
            <a:avLst/>
          </a:prstGeom>
          <a:noFill/>
          <a:ln w="31750">
            <a:solidFill>
              <a:srgbClr val="C9A94E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2743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REVELIO  —  Full Platform Technical Architecture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0" y="393192"/>
            <a:ext cx="2743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9A94E"/>
                </a:solidFill>
              </a:rPr>
              <a:t>Campaign Commitment as a Service   |   6 Infrastructure Layers   |   17 Modules   |   Phase 1 → Phase 3   |   CONFIDENTIAL   |   April 2026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182880" y="713232"/>
            <a:ext cx="22494240" cy="237744"/>
          </a:xfrm>
          <a:prstGeom prst="rect">
            <a:avLst/>
          </a:prstGeom>
          <a:solidFill>
            <a:srgbClr val="555555">
              <a:alpha val="85000"/>
            </a:srgbClr>
          </a:solidFill>
          <a:ln w="1270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7" name="Text 5"/>
          <p:cNvSpPr/>
          <p:nvPr/>
        </p:nvSpPr>
        <p:spPr>
          <a:xfrm>
            <a:off x="274320" y="713232"/>
            <a:ext cx="22311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</a:rPr>
              <a:t>LAYER 1 — EXTERNAL ACTORS &amp; INTERFACES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48056" y="868680"/>
            <a:ext cx="1481328" cy="623621"/>
          </a:xfrm>
          <a:prstGeom prst="roundRect">
            <a:avLst/>
          </a:prstGeom>
          <a:solidFill>
            <a:srgbClr val="2C2C2C"/>
          </a:solidFill>
          <a:ln w="1016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9" name="Shape 7"/>
          <p:cNvSpPr/>
          <p:nvPr/>
        </p:nvSpPr>
        <p:spPr>
          <a:xfrm>
            <a:off x="502920" y="914400"/>
            <a:ext cx="1371600" cy="532181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0" name="Shape 8"/>
          <p:cNvSpPr/>
          <p:nvPr/>
        </p:nvSpPr>
        <p:spPr>
          <a:xfrm>
            <a:off x="1089965" y="1492301"/>
            <a:ext cx="197510" cy="181051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1" name="Shape 9"/>
          <p:cNvSpPr/>
          <p:nvPr/>
        </p:nvSpPr>
        <p:spPr>
          <a:xfrm>
            <a:off x="694944" y="1663294"/>
            <a:ext cx="987552" cy="100584"/>
          </a:xfrm>
          <a:prstGeom prst="round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2" name="Text 10"/>
          <p:cNvSpPr/>
          <p:nvPr/>
        </p:nvSpPr>
        <p:spPr>
          <a:xfrm>
            <a:off x="365760" y="1920240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444444"/>
                </a:solidFill>
              </a:rPr>
              <a:t>Brand Teams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" y="2130552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666666"/>
                </a:solidFill>
              </a:rPr>
              <a:t>CMS · Dashboard</a:t>
            </a:r>
            <a:endParaRPr lang="en-US" sz="650" dirty="0"/>
          </a:p>
        </p:txBody>
      </p:sp>
      <p:sp>
        <p:nvSpPr>
          <p:cNvPr id="14" name="Shape 12"/>
          <p:cNvSpPr/>
          <p:nvPr/>
        </p:nvSpPr>
        <p:spPr>
          <a:xfrm>
            <a:off x="2551176" y="868680"/>
            <a:ext cx="1481328" cy="623621"/>
          </a:xfrm>
          <a:prstGeom prst="roundRect">
            <a:avLst/>
          </a:prstGeom>
          <a:solidFill>
            <a:srgbClr val="2C2C2C"/>
          </a:solidFill>
          <a:ln w="1016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5" name="Shape 13"/>
          <p:cNvSpPr/>
          <p:nvPr/>
        </p:nvSpPr>
        <p:spPr>
          <a:xfrm>
            <a:off x="2606040" y="914400"/>
            <a:ext cx="1371600" cy="532181"/>
          </a:xfrm>
          <a:prstGeom prst="rect">
            <a:avLst/>
          </a:prstGeom>
          <a:solidFill>
            <a:srgbClr val="4A42A8"/>
          </a:solidFill>
          <a:ln w="12700">
            <a:solidFill>
              <a:srgbClr val="4A42A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6" name="Shape 14"/>
          <p:cNvSpPr/>
          <p:nvPr/>
        </p:nvSpPr>
        <p:spPr>
          <a:xfrm>
            <a:off x="3193085" y="1492301"/>
            <a:ext cx="197510" cy="181051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7" name="Shape 15"/>
          <p:cNvSpPr/>
          <p:nvPr/>
        </p:nvSpPr>
        <p:spPr>
          <a:xfrm>
            <a:off x="2798064" y="1663294"/>
            <a:ext cx="987552" cy="100584"/>
          </a:xfrm>
          <a:prstGeom prst="round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8" name="Text 16"/>
          <p:cNvSpPr/>
          <p:nvPr/>
        </p:nvSpPr>
        <p:spPr>
          <a:xfrm>
            <a:off x="2468880" y="1920240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444444"/>
                </a:solidFill>
              </a:rPr>
              <a:t>Agencies (P2)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473018" y="2012651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666666"/>
                </a:solidFill>
              </a:rPr>
              <a:t>White-label Console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4572000" y="868680"/>
            <a:ext cx="914400" cy="1097280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1" name="Shape 19"/>
          <p:cNvSpPr/>
          <p:nvPr/>
        </p:nvSpPr>
        <p:spPr>
          <a:xfrm>
            <a:off x="4626864" y="960120"/>
            <a:ext cx="804672" cy="896112"/>
          </a:xfrm>
          <a:prstGeom prst="roundRect">
            <a:avLst/>
          </a:prstGeom>
          <a:solidFill>
            <a:srgbClr val="0A6648"/>
          </a:solidFill>
          <a:ln w="12700">
            <a:solidFill>
              <a:srgbClr val="0A664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2" name="Shape 20"/>
          <p:cNvSpPr/>
          <p:nvPr/>
        </p:nvSpPr>
        <p:spPr>
          <a:xfrm>
            <a:off x="4983480" y="900684"/>
            <a:ext cx="91440" cy="59436"/>
          </a:xfrm>
          <a:prstGeom prst="ellipse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3" name="Shape 21"/>
          <p:cNvSpPr/>
          <p:nvPr/>
        </p:nvSpPr>
        <p:spPr>
          <a:xfrm>
            <a:off x="4965192" y="1856232"/>
            <a:ext cx="128016" cy="82296"/>
          </a:xfrm>
          <a:prstGeom prst="ellipse">
            <a:avLst/>
          </a:prstGeom>
          <a:solidFill>
            <a:srgbClr val="444444"/>
          </a:solidFill>
          <a:ln w="1270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4" name="Text 22"/>
          <p:cNvSpPr/>
          <p:nvPr/>
        </p:nvSpPr>
        <p:spPr>
          <a:xfrm>
            <a:off x="4389120" y="2020824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444444"/>
                </a:solidFill>
              </a:rPr>
              <a:t>Consumers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425696" y="2131523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666666"/>
                </a:solidFill>
              </a:rPr>
              <a:t>PWA · QR scan</a:t>
            </a:r>
            <a:endParaRPr lang="en-US" sz="650" dirty="0"/>
          </a:p>
        </p:txBody>
      </p:sp>
      <p:sp>
        <p:nvSpPr>
          <p:cNvPr id="26" name="Shape 24"/>
          <p:cNvSpPr/>
          <p:nvPr/>
        </p:nvSpPr>
        <p:spPr>
          <a:xfrm>
            <a:off x="6126480" y="914400"/>
            <a:ext cx="9144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7" name="Shape 25"/>
          <p:cNvSpPr/>
          <p:nvPr/>
        </p:nvSpPr>
        <p:spPr>
          <a:xfrm>
            <a:off x="6172200" y="960120"/>
            <a:ext cx="274320" cy="274320"/>
          </a:xfrm>
          <a:prstGeom prst="rect">
            <a:avLst/>
          </a:prstGeom>
          <a:solidFill>
            <a:srgbClr val="C9A94E"/>
          </a:solidFill>
          <a:ln w="508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8" name="Shape 26"/>
          <p:cNvSpPr/>
          <p:nvPr/>
        </p:nvSpPr>
        <p:spPr>
          <a:xfrm>
            <a:off x="6227064" y="1014984"/>
            <a:ext cx="164592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9" name="Shape 27"/>
          <p:cNvSpPr/>
          <p:nvPr/>
        </p:nvSpPr>
        <p:spPr>
          <a:xfrm>
            <a:off x="6268212" y="1056132"/>
            <a:ext cx="82296" cy="82296"/>
          </a:xfrm>
          <a:prstGeom prst="rect">
            <a:avLst/>
          </a:prstGeom>
          <a:solidFill>
            <a:srgbClr val="C9A94E"/>
          </a:solidFill>
          <a:ln w="12700">
            <a:solidFill>
              <a:srgbClr val="C9A94E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0" name="Shape 28"/>
          <p:cNvSpPr/>
          <p:nvPr/>
        </p:nvSpPr>
        <p:spPr>
          <a:xfrm>
            <a:off x="6720840" y="960120"/>
            <a:ext cx="274320" cy="274320"/>
          </a:xfrm>
          <a:prstGeom prst="rect">
            <a:avLst/>
          </a:prstGeom>
          <a:solidFill>
            <a:srgbClr val="C9A94E"/>
          </a:solidFill>
          <a:ln w="508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1" name="Shape 29"/>
          <p:cNvSpPr/>
          <p:nvPr/>
        </p:nvSpPr>
        <p:spPr>
          <a:xfrm>
            <a:off x="6775704" y="1014984"/>
            <a:ext cx="164592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2" name="Shape 30"/>
          <p:cNvSpPr/>
          <p:nvPr/>
        </p:nvSpPr>
        <p:spPr>
          <a:xfrm>
            <a:off x="6816852" y="1056132"/>
            <a:ext cx="82296" cy="82296"/>
          </a:xfrm>
          <a:prstGeom prst="rect">
            <a:avLst/>
          </a:prstGeom>
          <a:solidFill>
            <a:srgbClr val="C9A94E"/>
          </a:solidFill>
          <a:ln w="12700">
            <a:solidFill>
              <a:srgbClr val="C9A94E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3" name="Shape 31"/>
          <p:cNvSpPr/>
          <p:nvPr/>
        </p:nvSpPr>
        <p:spPr>
          <a:xfrm>
            <a:off x="6172200" y="1508760"/>
            <a:ext cx="274320" cy="274320"/>
          </a:xfrm>
          <a:prstGeom prst="rect">
            <a:avLst/>
          </a:prstGeom>
          <a:solidFill>
            <a:srgbClr val="C9A94E"/>
          </a:solidFill>
          <a:ln w="508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4" name="Shape 32"/>
          <p:cNvSpPr/>
          <p:nvPr/>
        </p:nvSpPr>
        <p:spPr>
          <a:xfrm>
            <a:off x="6227064" y="1563624"/>
            <a:ext cx="164592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5" name="Shape 33"/>
          <p:cNvSpPr/>
          <p:nvPr/>
        </p:nvSpPr>
        <p:spPr>
          <a:xfrm>
            <a:off x="6268212" y="1604772"/>
            <a:ext cx="82296" cy="82296"/>
          </a:xfrm>
          <a:prstGeom prst="rect">
            <a:avLst/>
          </a:prstGeom>
          <a:solidFill>
            <a:srgbClr val="C9A94E"/>
          </a:solidFill>
          <a:ln w="12700">
            <a:solidFill>
              <a:srgbClr val="C9A94E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6" name="Shape 34"/>
          <p:cNvSpPr/>
          <p:nvPr/>
        </p:nvSpPr>
        <p:spPr>
          <a:xfrm>
            <a:off x="6629400" y="1024128"/>
            <a:ext cx="91440" cy="91440"/>
          </a:xfrm>
          <a:prstGeom prst="rect">
            <a:avLst/>
          </a:prstGeom>
          <a:solidFill>
            <a:srgbClr val="C9A94E"/>
          </a:solidFill>
          <a:ln w="12700">
            <a:solidFill>
              <a:srgbClr val="C9A94E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7" name="Shape 35"/>
          <p:cNvSpPr/>
          <p:nvPr/>
        </p:nvSpPr>
        <p:spPr>
          <a:xfrm>
            <a:off x="6784848" y="1024128"/>
            <a:ext cx="91440" cy="91440"/>
          </a:xfrm>
          <a:prstGeom prst="rect">
            <a:avLst/>
          </a:prstGeom>
          <a:solidFill>
            <a:srgbClr val="C9A94E"/>
          </a:solidFill>
          <a:ln w="12700">
            <a:solidFill>
              <a:srgbClr val="C9A94E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8" name="Shape 36"/>
          <p:cNvSpPr/>
          <p:nvPr/>
        </p:nvSpPr>
        <p:spPr>
          <a:xfrm>
            <a:off x="6931152" y="1024128"/>
            <a:ext cx="91440" cy="91440"/>
          </a:xfrm>
          <a:prstGeom prst="rect">
            <a:avLst/>
          </a:prstGeom>
          <a:solidFill>
            <a:srgbClr val="C9A94E"/>
          </a:solidFill>
          <a:ln w="12700">
            <a:solidFill>
              <a:srgbClr val="C9A94E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9" name="Shape 37"/>
          <p:cNvSpPr/>
          <p:nvPr/>
        </p:nvSpPr>
        <p:spPr>
          <a:xfrm>
            <a:off x="6629400" y="1170432"/>
            <a:ext cx="91440" cy="91440"/>
          </a:xfrm>
          <a:prstGeom prst="rect">
            <a:avLst/>
          </a:prstGeom>
          <a:solidFill>
            <a:srgbClr val="C9A94E"/>
          </a:solidFill>
          <a:ln w="12700">
            <a:solidFill>
              <a:srgbClr val="C9A94E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0" name="Shape 38"/>
          <p:cNvSpPr/>
          <p:nvPr/>
        </p:nvSpPr>
        <p:spPr>
          <a:xfrm>
            <a:off x="6784848" y="1170432"/>
            <a:ext cx="91440" cy="91440"/>
          </a:xfrm>
          <a:prstGeom prst="rect">
            <a:avLst/>
          </a:prstGeom>
          <a:solidFill>
            <a:srgbClr val="C9A94E"/>
          </a:solidFill>
          <a:ln w="12700">
            <a:solidFill>
              <a:srgbClr val="C9A94E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1" name="Shape 39"/>
          <p:cNvSpPr/>
          <p:nvPr/>
        </p:nvSpPr>
        <p:spPr>
          <a:xfrm>
            <a:off x="6629400" y="1417320"/>
            <a:ext cx="91440" cy="91440"/>
          </a:xfrm>
          <a:prstGeom prst="rect">
            <a:avLst/>
          </a:prstGeom>
          <a:solidFill>
            <a:srgbClr val="C9A94E"/>
          </a:solidFill>
          <a:ln w="12700">
            <a:solidFill>
              <a:srgbClr val="C9A94E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2" name="Shape 40"/>
          <p:cNvSpPr/>
          <p:nvPr/>
        </p:nvSpPr>
        <p:spPr>
          <a:xfrm>
            <a:off x="6784848" y="1417320"/>
            <a:ext cx="91440" cy="91440"/>
          </a:xfrm>
          <a:prstGeom prst="rect">
            <a:avLst/>
          </a:prstGeom>
          <a:solidFill>
            <a:srgbClr val="C9A94E"/>
          </a:solidFill>
          <a:ln w="12700">
            <a:solidFill>
              <a:srgbClr val="C9A94E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3" name="Shape 41"/>
          <p:cNvSpPr/>
          <p:nvPr/>
        </p:nvSpPr>
        <p:spPr>
          <a:xfrm>
            <a:off x="6931152" y="1417320"/>
            <a:ext cx="91440" cy="91440"/>
          </a:xfrm>
          <a:prstGeom prst="rect">
            <a:avLst/>
          </a:prstGeom>
          <a:solidFill>
            <a:srgbClr val="C9A94E"/>
          </a:solidFill>
          <a:ln w="12700">
            <a:solidFill>
              <a:srgbClr val="C9A94E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4" name="Shape 42"/>
          <p:cNvSpPr/>
          <p:nvPr/>
        </p:nvSpPr>
        <p:spPr>
          <a:xfrm>
            <a:off x="6629400" y="1572768"/>
            <a:ext cx="91440" cy="91440"/>
          </a:xfrm>
          <a:prstGeom prst="rect">
            <a:avLst/>
          </a:prstGeom>
          <a:solidFill>
            <a:srgbClr val="C9A94E"/>
          </a:solidFill>
          <a:ln w="12700">
            <a:solidFill>
              <a:srgbClr val="C9A94E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5" name="Shape 43"/>
          <p:cNvSpPr/>
          <p:nvPr/>
        </p:nvSpPr>
        <p:spPr>
          <a:xfrm>
            <a:off x="6931152" y="1572768"/>
            <a:ext cx="91440" cy="91440"/>
          </a:xfrm>
          <a:prstGeom prst="rect">
            <a:avLst/>
          </a:prstGeom>
          <a:solidFill>
            <a:srgbClr val="C9A94E"/>
          </a:solidFill>
          <a:ln w="12700">
            <a:solidFill>
              <a:srgbClr val="C9A94E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6" name="Shape 44"/>
          <p:cNvSpPr/>
          <p:nvPr/>
        </p:nvSpPr>
        <p:spPr>
          <a:xfrm>
            <a:off x="6629400" y="1719072"/>
            <a:ext cx="91440" cy="91440"/>
          </a:xfrm>
          <a:prstGeom prst="rect">
            <a:avLst/>
          </a:prstGeom>
          <a:solidFill>
            <a:srgbClr val="C9A94E"/>
          </a:solidFill>
          <a:ln w="12700">
            <a:solidFill>
              <a:srgbClr val="C9A94E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7" name="Shape 45"/>
          <p:cNvSpPr/>
          <p:nvPr/>
        </p:nvSpPr>
        <p:spPr>
          <a:xfrm>
            <a:off x="6784848" y="1719072"/>
            <a:ext cx="91440" cy="91440"/>
          </a:xfrm>
          <a:prstGeom prst="rect">
            <a:avLst/>
          </a:prstGeom>
          <a:solidFill>
            <a:srgbClr val="C9A94E"/>
          </a:solidFill>
          <a:ln w="12700">
            <a:solidFill>
              <a:srgbClr val="C9A94E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8" name="Shape 46"/>
          <p:cNvSpPr/>
          <p:nvPr/>
        </p:nvSpPr>
        <p:spPr>
          <a:xfrm>
            <a:off x="6784848" y="1572768"/>
            <a:ext cx="91440" cy="91440"/>
          </a:xfrm>
          <a:prstGeom prst="rect">
            <a:avLst/>
          </a:prstGeom>
          <a:solidFill>
            <a:srgbClr val="C9A94E"/>
          </a:solidFill>
          <a:ln w="12700">
            <a:solidFill>
              <a:srgbClr val="C9A94E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9" name="Text 47"/>
          <p:cNvSpPr/>
          <p:nvPr/>
        </p:nvSpPr>
        <p:spPr>
          <a:xfrm>
            <a:off x="6035040" y="1883664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444444"/>
                </a:solidFill>
              </a:rPr>
              <a:t>Physical Calendar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6035040" y="2058504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666666"/>
                </a:solidFill>
              </a:rPr>
              <a:t>9/30/50 days</a:t>
            </a:r>
            <a:endParaRPr lang="en-US" sz="650" dirty="0"/>
          </a:p>
        </p:txBody>
      </p:sp>
      <p:sp>
        <p:nvSpPr>
          <p:cNvPr id="51" name="Shape 49"/>
          <p:cNvSpPr/>
          <p:nvPr/>
        </p:nvSpPr>
        <p:spPr>
          <a:xfrm>
            <a:off x="7589520" y="1042416"/>
            <a:ext cx="1371600" cy="713232"/>
          </a:xfrm>
          <a:prstGeom prst="rect">
            <a:avLst/>
          </a:prstGeom>
          <a:solidFill>
            <a:srgbClr val="6B3A0A"/>
          </a:solidFill>
          <a:ln w="1270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52" name="Shape 50"/>
          <p:cNvSpPr/>
          <p:nvPr/>
        </p:nvSpPr>
        <p:spPr>
          <a:xfrm>
            <a:off x="7543800" y="841248"/>
            <a:ext cx="1463040" cy="256032"/>
          </a:xfrm>
          <a:prstGeom prst="triangle">
            <a:avLst/>
          </a:prstGeom>
          <a:solidFill>
            <a:srgbClr val="777777"/>
          </a:solidFill>
          <a:ln w="1270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53" name="Shape 51"/>
          <p:cNvSpPr/>
          <p:nvPr/>
        </p:nvSpPr>
        <p:spPr>
          <a:xfrm>
            <a:off x="7863840" y="1115568"/>
            <a:ext cx="301752" cy="137160"/>
          </a:xfrm>
          <a:prstGeom prst="rect">
            <a:avLst/>
          </a:prstGeom>
          <a:solidFill>
            <a:srgbClr val="ADE8FF"/>
          </a:solidFill>
          <a:ln w="381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54" name="Shape 52"/>
          <p:cNvSpPr/>
          <p:nvPr/>
        </p:nvSpPr>
        <p:spPr>
          <a:xfrm>
            <a:off x="8481060" y="1115568"/>
            <a:ext cx="301752" cy="137160"/>
          </a:xfrm>
          <a:prstGeom prst="rect">
            <a:avLst/>
          </a:prstGeom>
          <a:solidFill>
            <a:srgbClr val="ADE8FF"/>
          </a:solidFill>
          <a:ln w="381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55" name="Shape 53"/>
          <p:cNvSpPr/>
          <p:nvPr/>
        </p:nvSpPr>
        <p:spPr>
          <a:xfrm>
            <a:off x="7863840" y="1435608"/>
            <a:ext cx="301752" cy="137160"/>
          </a:xfrm>
          <a:prstGeom prst="rect">
            <a:avLst/>
          </a:prstGeom>
          <a:solidFill>
            <a:srgbClr val="ADE8FF"/>
          </a:solidFill>
          <a:ln w="381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56" name="Shape 54"/>
          <p:cNvSpPr/>
          <p:nvPr/>
        </p:nvSpPr>
        <p:spPr>
          <a:xfrm>
            <a:off x="8481060" y="1435608"/>
            <a:ext cx="301752" cy="137160"/>
          </a:xfrm>
          <a:prstGeom prst="rect">
            <a:avLst/>
          </a:prstGeom>
          <a:solidFill>
            <a:srgbClr val="ADE8FF"/>
          </a:solidFill>
          <a:ln w="381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57" name="Text 55"/>
          <p:cNvSpPr/>
          <p:nvPr/>
        </p:nvSpPr>
        <p:spPr>
          <a:xfrm>
            <a:off x="7498080" y="1801368"/>
            <a:ext cx="1554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444444"/>
                </a:solidFill>
              </a:rPr>
              <a:t>Manufacturing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7498080" y="2011680"/>
            <a:ext cx="1554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666666"/>
                </a:solidFill>
              </a:rPr>
              <a:t>CSV/SFTP · Print</a:t>
            </a:r>
            <a:endParaRPr lang="en-US" sz="650" dirty="0"/>
          </a:p>
        </p:txBody>
      </p:sp>
      <p:sp>
        <p:nvSpPr>
          <p:cNvPr id="59" name="Shape 57"/>
          <p:cNvSpPr/>
          <p:nvPr/>
        </p:nvSpPr>
        <p:spPr>
          <a:xfrm>
            <a:off x="9509760" y="953262"/>
            <a:ext cx="987552" cy="505206"/>
          </a:xfrm>
          <a:prstGeom prst="rect">
            <a:avLst/>
          </a:prstGeom>
          <a:solidFill>
            <a:srgbClr val="5D4037"/>
          </a:solidFill>
          <a:ln w="1270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60" name="Shape 58"/>
          <p:cNvSpPr/>
          <p:nvPr/>
        </p:nvSpPr>
        <p:spPr>
          <a:xfrm>
            <a:off x="10497312" y="953262"/>
            <a:ext cx="658368" cy="450799"/>
          </a:xfrm>
          <a:prstGeom prst="roundRect">
            <a:avLst/>
          </a:prstGeom>
          <a:solidFill>
            <a:srgbClr val="666666"/>
          </a:solidFill>
          <a:ln w="1270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61" name="Shape 59"/>
          <p:cNvSpPr/>
          <p:nvPr/>
        </p:nvSpPr>
        <p:spPr>
          <a:xfrm>
            <a:off x="10546690" y="1023214"/>
            <a:ext cx="526694" cy="209855"/>
          </a:xfrm>
          <a:prstGeom prst="roundRect">
            <a:avLst/>
          </a:prstGeom>
          <a:solidFill>
            <a:srgbClr val="ADE8FF"/>
          </a:solidFill>
          <a:ln w="5080">
            <a:solidFill>
              <a:srgbClr val="777777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62" name="Shape 60"/>
          <p:cNvSpPr/>
          <p:nvPr/>
        </p:nvSpPr>
        <p:spPr>
          <a:xfrm>
            <a:off x="9559138" y="1442923"/>
            <a:ext cx="296266" cy="170993"/>
          </a:xfrm>
          <a:prstGeom prst="ellipse">
            <a:avLst/>
          </a:prstGeom>
          <a:solidFill>
            <a:srgbClr val="22222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63" name="Shape 61"/>
          <p:cNvSpPr/>
          <p:nvPr/>
        </p:nvSpPr>
        <p:spPr>
          <a:xfrm>
            <a:off x="9633204" y="1481785"/>
            <a:ext cx="148133" cy="93269"/>
          </a:xfrm>
          <a:prstGeom prst="ellipse">
            <a:avLst/>
          </a:prstGeom>
          <a:solidFill>
            <a:srgbClr val="888888"/>
          </a:solidFill>
          <a:ln w="3810">
            <a:solidFill>
              <a:srgbClr val="777777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64" name="Shape 62"/>
          <p:cNvSpPr/>
          <p:nvPr/>
        </p:nvSpPr>
        <p:spPr>
          <a:xfrm>
            <a:off x="10052914" y="1442923"/>
            <a:ext cx="296266" cy="170993"/>
          </a:xfrm>
          <a:prstGeom prst="ellipse">
            <a:avLst/>
          </a:prstGeom>
          <a:solidFill>
            <a:srgbClr val="22222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65" name="Shape 63"/>
          <p:cNvSpPr/>
          <p:nvPr/>
        </p:nvSpPr>
        <p:spPr>
          <a:xfrm>
            <a:off x="10126980" y="1481785"/>
            <a:ext cx="148133" cy="93269"/>
          </a:xfrm>
          <a:prstGeom prst="ellipse">
            <a:avLst/>
          </a:prstGeom>
          <a:solidFill>
            <a:srgbClr val="888888"/>
          </a:solidFill>
          <a:ln w="3810">
            <a:solidFill>
              <a:srgbClr val="777777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66" name="Shape 64"/>
          <p:cNvSpPr/>
          <p:nvPr/>
        </p:nvSpPr>
        <p:spPr>
          <a:xfrm>
            <a:off x="10563149" y="1442923"/>
            <a:ext cx="296266" cy="170993"/>
          </a:xfrm>
          <a:prstGeom prst="ellipse">
            <a:avLst/>
          </a:prstGeom>
          <a:solidFill>
            <a:srgbClr val="22222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67" name="Shape 65"/>
          <p:cNvSpPr/>
          <p:nvPr/>
        </p:nvSpPr>
        <p:spPr>
          <a:xfrm>
            <a:off x="10637215" y="1481785"/>
            <a:ext cx="148133" cy="93269"/>
          </a:xfrm>
          <a:prstGeom prst="ellipse">
            <a:avLst/>
          </a:prstGeom>
          <a:solidFill>
            <a:srgbClr val="888888"/>
          </a:solidFill>
          <a:ln w="3810">
            <a:solidFill>
              <a:srgbClr val="777777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68" name="Text 66"/>
          <p:cNvSpPr/>
          <p:nvPr/>
        </p:nvSpPr>
        <p:spPr>
          <a:xfrm>
            <a:off x="9418320" y="1746504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444444"/>
                </a:solidFill>
              </a:rPr>
              <a:t>3PL Fulfilment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9418320" y="1965960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666666"/>
                </a:solidFill>
              </a:rPr>
              <a:t>Posti · DHL</a:t>
            </a:r>
            <a:endParaRPr lang="en-US" sz="650" dirty="0"/>
          </a:p>
        </p:txBody>
      </p:sp>
      <p:sp>
        <p:nvSpPr>
          <p:cNvPr id="70" name="Shape 68"/>
          <p:cNvSpPr/>
          <p:nvPr/>
        </p:nvSpPr>
        <p:spPr>
          <a:xfrm>
            <a:off x="11704320" y="1042416"/>
            <a:ext cx="1371600" cy="713232"/>
          </a:xfrm>
          <a:prstGeom prst="rect">
            <a:avLst/>
          </a:prstGeom>
          <a:solidFill>
            <a:srgbClr val="1A5276"/>
          </a:solidFill>
          <a:ln w="1270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71" name="Shape 69"/>
          <p:cNvSpPr/>
          <p:nvPr/>
        </p:nvSpPr>
        <p:spPr>
          <a:xfrm>
            <a:off x="11658600" y="841248"/>
            <a:ext cx="1463040" cy="256032"/>
          </a:xfrm>
          <a:prstGeom prst="triangle">
            <a:avLst/>
          </a:prstGeom>
          <a:solidFill>
            <a:srgbClr val="777777"/>
          </a:solidFill>
          <a:ln w="1270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72" name="Shape 70"/>
          <p:cNvSpPr/>
          <p:nvPr/>
        </p:nvSpPr>
        <p:spPr>
          <a:xfrm>
            <a:off x="11978640" y="1115568"/>
            <a:ext cx="301752" cy="137160"/>
          </a:xfrm>
          <a:prstGeom prst="rect">
            <a:avLst/>
          </a:prstGeom>
          <a:solidFill>
            <a:srgbClr val="ADE8FF"/>
          </a:solidFill>
          <a:ln w="381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73" name="Shape 71"/>
          <p:cNvSpPr/>
          <p:nvPr/>
        </p:nvSpPr>
        <p:spPr>
          <a:xfrm>
            <a:off x="12595860" y="1115568"/>
            <a:ext cx="301752" cy="137160"/>
          </a:xfrm>
          <a:prstGeom prst="rect">
            <a:avLst/>
          </a:prstGeom>
          <a:solidFill>
            <a:srgbClr val="ADE8FF"/>
          </a:solidFill>
          <a:ln w="381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74" name="Shape 72"/>
          <p:cNvSpPr/>
          <p:nvPr/>
        </p:nvSpPr>
        <p:spPr>
          <a:xfrm>
            <a:off x="11978640" y="1435608"/>
            <a:ext cx="301752" cy="137160"/>
          </a:xfrm>
          <a:prstGeom prst="rect">
            <a:avLst/>
          </a:prstGeom>
          <a:solidFill>
            <a:srgbClr val="ADE8FF"/>
          </a:solidFill>
          <a:ln w="381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75" name="Shape 73"/>
          <p:cNvSpPr/>
          <p:nvPr/>
        </p:nvSpPr>
        <p:spPr>
          <a:xfrm>
            <a:off x="12595860" y="1435608"/>
            <a:ext cx="301752" cy="137160"/>
          </a:xfrm>
          <a:prstGeom prst="rect">
            <a:avLst/>
          </a:prstGeom>
          <a:solidFill>
            <a:srgbClr val="ADE8FF"/>
          </a:solidFill>
          <a:ln w="381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76" name="Text 74"/>
          <p:cNvSpPr/>
          <p:nvPr/>
        </p:nvSpPr>
        <p:spPr>
          <a:xfrm>
            <a:off x="11612880" y="1801368"/>
            <a:ext cx="1554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444444"/>
                </a:solidFill>
              </a:rPr>
              <a:t>Commerce Partners</a:t>
            </a:r>
            <a:endParaRPr lang="en-US" sz="800" dirty="0"/>
          </a:p>
        </p:txBody>
      </p:sp>
      <p:sp>
        <p:nvSpPr>
          <p:cNvPr id="77" name="Text 75"/>
          <p:cNvSpPr/>
          <p:nvPr/>
        </p:nvSpPr>
        <p:spPr>
          <a:xfrm>
            <a:off x="11612880" y="2011680"/>
            <a:ext cx="1554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666666"/>
                </a:solidFill>
              </a:rPr>
              <a:t>Hotels · Transport</a:t>
            </a:r>
            <a:endParaRPr lang="en-US" sz="650" dirty="0"/>
          </a:p>
        </p:txBody>
      </p:sp>
      <p:sp>
        <p:nvSpPr>
          <p:cNvPr id="78" name="Shape 76"/>
          <p:cNvSpPr/>
          <p:nvPr/>
        </p:nvSpPr>
        <p:spPr>
          <a:xfrm>
            <a:off x="13533120" y="804672"/>
            <a:ext cx="1737360" cy="960120"/>
          </a:xfrm>
          <a:prstGeom prst="cloud">
            <a:avLst/>
          </a:prstGeom>
          <a:solidFill>
            <a:srgbClr val="4A42A8"/>
          </a:solidFill>
          <a:ln w="12700">
            <a:solidFill>
              <a:srgbClr val="3A3289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79" name="Text 77"/>
          <p:cNvSpPr/>
          <p:nvPr/>
        </p:nvSpPr>
        <p:spPr>
          <a:xfrm>
            <a:off x="13533120" y="104470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DSP Partners (P2)</a:t>
            </a:r>
            <a:endParaRPr lang="en-US" sz="800" dirty="0"/>
          </a:p>
        </p:txBody>
      </p:sp>
      <p:sp>
        <p:nvSpPr>
          <p:cNvPr id="80" name="Text 78"/>
          <p:cNvSpPr/>
          <p:nvPr/>
        </p:nvSpPr>
        <p:spPr>
          <a:xfrm>
            <a:off x="13533120" y="1332738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FFFFFF"/>
                </a:solidFill>
              </a:rPr>
              <a:t>OpenRTB · Bidding</a:t>
            </a:r>
            <a:endParaRPr lang="en-US" sz="650" dirty="0"/>
          </a:p>
        </p:txBody>
      </p:sp>
      <p:sp>
        <p:nvSpPr>
          <p:cNvPr id="81" name="Shape 79"/>
          <p:cNvSpPr/>
          <p:nvPr/>
        </p:nvSpPr>
        <p:spPr>
          <a:xfrm>
            <a:off x="15727680" y="804672"/>
            <a:ext cx="1920240" cy="960120"/>
          </a:xfrm>
          <a:prstGeom prst="cloud">
            <a:avLst/>
          </a:prstGeom>
          <a:solidFill>
            <a:srgbClr val="6B3A0A"/>
          </a:solidFill>
          <a:ln w="12700">
            <a:solidFill>
              <a:srgbClr val="4A280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82" name="Text 80"/>
          <p:cNvSpPr/>
          <p:nvPr/>
        </p:nvSpPr>
        <p:spPr>
          <a:xfrm>
            <a:off x="15727680" y="104470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Claude API (P2)</a:t>
            </a:r>
            <a:endParaRPr lang="en-US" sz="800" dirty="0"/>
          </a:p>
        </p:txBody>
      </p:sp>
      <p:sp>
        <p:nvSpPr>
          <p:cNvPr id="83" name="Text 81"/>
          <p:cNvSpPr/>
          <p:nvPr/>
        </p:nvSpPr>
        <p:spPr>
          <a:xfrm>
            <a:off x="15727680" y="133273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FFFFFF"/>
                </a:solidFill>
              </a:rPr>
              <a:t>Anthropic · claude-sonnet</a:t>
            </a:r>
            <a:endParaRPr lang="en-US" sz="650" dirty="0"/>
          </a:p>
        </p:txBody>
      </p:sp>
      <p:sp>
        <p:nvSpPr>
          <p:cNvPr id="84" name="Shape 82"/>
          <p:cNvSpPr/>
          <p:nvPr/>
        </p:nvSpPr>
        <p:spPr>
          <a:xfrm>
            <a:off x="18187416" y="868680"/>
            <a:ext cx="1481328" cy="623621"/>
          </a:xfrm>
          <a:prstGeom prst="roundRect">
            <a:avLst/>
          </a:prstGeom>
          <a:solidFill>
            <a:srgbClr val="2C2C2C"/>
          </a:solidFill>
          <a:ln w="1016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85" name="Shape 83"/>
          <p:cNvSpPr/>
          <p:nvPr/>
        </p:nvSpPr>
        <p:spPr>
          <a:xfrm>
            <a:off x="18242280" y="914400"/>
            <a:ext cx="1371600" cy="532181"/>
          </a:xfrm>
          <a:prstGeom prst="rect">
            <a:avLst/>
          </a:prstGeom>
          <a:solidFill>
            <a:srgbClr val="8B3318"/>
          </a:solidFill>
          <a:ln w="12700">
            <a:solidFill>
              <a:srgbClr val="8B331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86" name="Shape 84"/>
          <p:cNvSpPr/>
          <p:nvPr/>
        </p:nvSpPr>
        <p:spPr>
          <a:xfrm>
            <a:off x="18829325" y="1492301"/>
            <a:ext cx="197510" cy="181051"/>
          </a:xfrm>
          <a:prstGeom prst="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87" name="Shape 85"/>
          <p:cNvSpPr/>
          <p:nvPr/>
        </p:nvSpPr>
        <p:spPr>
          <a:xfrm>
            <a:off x="18434304" y="1663294"/>
            <a:ext cx="987552" cy="100584"/>
          </a:xfrm>
          <a:prstGeom prst="roundRect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88" name="Text 86"/>
          <p:cNvSpPr/>
          <p:nvPr/>
        </p:nvSpPr>
        <p:spPr>
          <a:xfrm>
            <a:off x="18105120" y="1920240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444444"/>
                </a:solidFill>
              </a:rPr>
              <a:t>Payment (P3)</a:t>
            </a:r>
            <a:endParaRPr lang="en-US" sz="800" dirty="0"/>
          </a:p>
        </p:txBody>
      </p:sp>
      <p:sp>
        <p:nvSpPr>
          <p:cNvPr id="89" name="Text 87"/>
          <p:cNvSpPr/>
          <p:nvPr/>
        </p:nvSpPr>
        <p:spPr>
          <a:xfrm>
            <a:off x="18105120" y="2130552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666666"/>
                </a:solidFill>
              </a:rPr>
              <a:t>Stripe/Adyen · PSD2</a:t>
            </a:r>
            <a:endParaRPr lang="en-US" sz="650" dirty="0"/>
          </a:p>
        </p:txBody>
      </p:sp>
      <p:sp>
        <p:nvSpPr>
          <p:cNvPr id="90" name="Shape 88"/>
          <p:cNvSpPr/>
          <p:nvPr/>
        </p:nvSpPr>
        <p:spPr>
          <a:xfrm>
            <a:off x="182880" y="2276856"/>
            <a:ext cx="22494240" cy="237744"/>
          </a:xfrm>
          <a:prstGeom prst="rect">
            <a:avLst/>
          </a:prstGeom>
          <a:solidFill>
            <a:srgbClr val="0D3F6B">
              <a:alpha val="85000"/>
            </a:srgbClr>
          </a:solidFill>
          <a:ln w="12700">
            <a:solidFill>
              <a:srgbClr val="0D3F6B"/>
            </a:solidFill>
            <a:prstDash val="solid"/>
          </a:ln>
        </p:spPr>
        <p:txBody>
          <a:bodyPr/>
          <a:lstStyle/>
          <a:p>
            <a:endParaRPr lang="LID4096" dirty="0"/>
          </a:p>
        </p:txBody>
      </p:sp>
      <p:sp>
        <p:nvSpPr>
          <p:cNvPr id="91" name="Text 89"/>
          <p:cNvSpPr/>
          <p:nvPr/>
        </p:nvSpPr>
        <p:spPr>
          <a:xfrm>
            <a:off x="274320" y="2331720"/>
            <a:ext cx="22311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</a:rPr>
              <a:t>LAYER 2 — API GATEWAY &amp; CDN</a:t>
            </a:r>
            <a:endParaRPr lang="en-US" sz="800" dirty="0"/>
          </a:p>
        </p:txBody>
      </p:sp>
      <p:sp>
        <p:nvSpPr>
          <p:cNvPr id="92" name="Shape 90"/>
          <p:cNvSpPr/>
          <p:nvPr/>
        </p:nvSpPr>
        <p:spPr>
          <a:xfrm>
            <a:off x="182880" y="2542032"/>
            <a:ext cx="14173200" cy="1143000"/>
          </a:xfrm>
          <a:prstGeom prst="roundRect">
            <a:avLst/>
          </a:prstGeom>
          <a:solidFill>
            <a:srgbClr val="D4E6F5">
              <a:alpha val="70000"/>
            </a:srgbClr>
          </a:solidFill>
          <a:ln w="15240">
            <a:solidFill>
              <a:srgbClr val="0D3F6B"/>
            </a:solidFill>
            <a:prstDash val="sysDash"/>
          </a:ln>
        </p:spPr>
        <p:txBody>
          <a:bodyPr/>
          <a:lstStyle/>
          <a:p>
            <a:endParaRPr lang="LID4096"/>
          </a:p>
        </p:txBody>
      </p:sp>
      <p:sp>
        <p:nvSpPr>
          <p:cNvPr id="93" name="Shape 91"/>
          <p:cNvSpPr/>
          <p:nvPr/>
        </p:nvSpPr>
        <p:spPr>
          <a:xfrm>
            <a:off x="365760" y="2578608"/>
            <a:ext cx="2286000" cy="1024128"/>
          </a:xfrm>
          <a:prstGeom prst="cloud">
            <a:avLst/>
          </a:prstGeom>
          <a:solidFill>
            <a:srgbClr val="5B7FA6"/>
          </a:solidFill>
          <a:ln w="12700">
            <a:solidFill>
              <a:srgbClr val="3A5A7A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94" name="Text 92"/>
          <p:cNvSpPr/>
          <p:nvPr/>
        </p:nvSpPr>
        <p:spPr>
          <a:xfrm>
            <a:off x="365760" y="283464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Internet</a:t>
            </a:r>
            <a:endParaRPr lang="en-US" sz="800" dirty="0"/>
          </a:p>
        </p:txBody>
      </p:sp>
      <p:sp>
        <p:nvSpPr>
          <p:cNvPr id="95" name="Text 93"/>
          <p:cNvSpPr/>
          <p:nvPr/>
        </p:nvSpPr>
        <p:spPr>
          <a:xfrm>
            <a:off x="365760" y="314187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chemeClr val="bg1"/>
                </a:solidFill>
              </a:rPr>
              <a:t>Public network · HTTPS:443</a:t>
            </a:r>
          </a:p>
        </p:txBody>
      </p:sp>
      <p:sp>
        <p:nvSpPr>
          <p:cNvPr id="96" name="Shape 94"/>
          <p:cNvSpPr/>
          <p:nvPr/>
        </p:nvSpPr>
        <p:spPr>
          <a:xfrm>
            <a:off x="3108960" y="2633472"/>
            <a:ext cx="5303520" cy="960120"/>
          </a:xfrm>
          <a:prstGeom prst="roundRect">
            <a:avLst/>
          </a:prstGeom>
          <a:solidFill>
            <a:srgbClr val="0D3F6B"/>
          </a:solidFill>
          <a:ln w="762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LID4096" dirty="0"/>
          </a:p>
        </p:txBody>
      </p:sp>
      <p:sp>
        <p:nvSpPr>
          <p:cNvPr id="97" name="Shape 95"/>
          <p:cNvSpPr/>
          <p:nvPr/>
        </p:nvSpPr>
        <p:spPr>
          <a:xfrm>
            <a:off x="3118104" y="2642616"/>
            <a:ext cx="5285232" cy="274320"/>
          </a:xfrm>
          <a:prstGeom prst="rect">
            <a:avLst/>
          </a:prstGeom>
          <a:solidFill>
            <a:srgbClr val="0D3F6B"/>
          </a:solidFill>
          <a:ln w="12700">
            <a:solidFill>
              <a:srgbClr val="0D3F6B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98" name="Shape 96"/>
          <p:cNvSpPr/>
          <p:nvPr/>
        </p:nvSpPr>
        <p:spPr>
          <a:xfrm>
            <a:off x="3118104" y="2642616"/>
            <a:ext cx="5285232" cy="274320"/>
          </a:xfrm>
          <a:prstGeom prst="roundRect">
            <a:avLst/>
          </a:prstGeom>
          <a:solidFill>
            <a:srgbClr val="0D3F6B"/>
          </a:solidFill>
          <a:ln w="12700">
            <a:solidFill>
              <a:srgbClr val="0D3F6B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99" name="Text 97"/>
          <p:cNvSpPr/>
          <p:nvPr/>
        </p:nvSpPr>
        <p:spPr>
          <a:xfrm>
            <a:off x="3182112" y="2670048"/>
            <a:ext cx="515721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FFFFF"/>
                </a:solidFill>
              </a:rPr>
              <a:t>API Gateway</a:t>
            </a:r>
            <a:endParaRPr lang="en-US" sz="850" dirty="0"/>
          </a:p>
        </p:txBody>
      </p:sp>
      <p:sp>
        <p:nvSpPr>
          <p:cNvPr id="100" name="Text 98"/>
          <p:cNvSpPr/>
          <p:nvPr/>
        </p:nvSpPr>
        <p:spPr>
          <a:xfrm>
            <a:off x="3182112" y="2944368"/>
            <a:ext cx="515721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720" dirty="0">
                <a:solidFill>
                  <a:schemeClr val="bg1"/>
                </a:solidFill>
              </a:rPr>
              <a:t>SSL termination · JWT validation</a:t>
            </a:r>
          </a:p>
          <a:p>
            <a:pPr marL="0" indent="0" algn="l">
              <a:buNone/>
            </a:pPr>
            <a:r>
              <a:rPr lang="en-US" sz="720" dirty="0">
                <a:solidFill>
                  <a:schemeClr val="bg1"/>
                </a:solidFill>
              </a:rPr>
              <a:t>Rate limiting (60 req/min) · CORS · Path routing</a:t>
            </a:r>
          </a:p>
        </p:txBody>
      </p:sp>
      <p:sp>
        <p:nvSpPr>
          <p:cNvPr id="101" name="Shape 99"/>
          <p:cNvSpPr/>
          <p:nvPr/>
        </p:nvSpPr>
        <p:spPr>
          <a:xfrm>
            <a:off x="8869680" y="2578608"/>
            <a:ext cx="5029200" cy="1024128"/>
          </a:xfrm>
          <a:prstGeom prst="cloud">
            <a:avLst/>
          </a:prstGeom>
          <a:solidFill>
            <a:srgbClr val="1A6B9A"/>
          </a:solidFill>
          <a:ln w="12700">
            <a:solidFill>
              <a:srgbClr val="0D4F7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02" name="Text 100"/>
          <p:cNvSpPr/>
          <p:nvPr/>
        </p:nvSpPr>
        <p:spPr>
          <a:xfrm>
            <a:off x="8869680" y="283464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CloudFront CDN</a:t>
            </a:r>
            <a:endParaRPr lang="en-US" sz="800" dirty="0"/>
          </a:p>
        </p:txBody>
      </p:sp>
      <p:sp>
        <p:nvSpPr>
          <p:cNvPr id="103" name="Text 101"/>
          <p:cNvSpPr/>
          <p:nvPr/>
        </p:nvSpPr>
        <p:spPr>
          <a:xfrm>
            <a:off x="8869680" y="314187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FFFFFF"/>
                </a:solidFill>
              </a:rPr>
              <a:t>Edge caching · Signed URLs (1hr) · Global delivery</a:t>
            </a:r>
            <a:endParaRPr lang="en-US" sz="650" dirty="0"/>
          </a:p>
        </p:txBody>
      </p:sp>
      <p:sp>
        <p:nvSpPr>
          <p:cNvPr id="104" name="Shape 102"/>
          <p:cNvSpPr/>
          <p:nvPr/>
        </p:nvSpPr>
        <p:spPr>
          <a:xfrm>
            <a:off x="2651760" y="3108960"/>
            <a:ext cx="457200" cy="9144"/>
          </a:xfrm>
          <a:prstGeom prst="line">
            <a:avLst/>
          </a:prstGeom>
          <a:noFill/>
          <a:ln w="19050">
            <a:solidFill>
              <a:srgbClr val="0D3F6B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LID4096"/>
          </a:p>
        </p:txBody>
      </p:sp>
      <p:sp>
        <p:nvSpPr>
          <p:cNvPr id="105" name="Text 103"/>
          <p:cNvSpPr/>
          <p:nvPr/>
        </p:nvSpPr>
        <p:spPr>
          <a:xfrm>
            <a:off x="2130552" y="2970177"/>
            <a:ext cx="1005840" cy="228600"/>
          </a:xfrm>
          <a:prstGeom prst="rect">
            <a:avLst/>
          </a:prstGeom>
          <a:solidFill>
            <a:srgbClr val="F8F6F2"/>
          </a:solidFill>
          <a:ln w="5080">
            <a:solidFill>
              <a:srgbClr val="DDDDDD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444444"/>
                </a:solidFill>
              </a:rPr>
              <a:t>HTTPS:443</a:t>
            </a:r>
            <a:endParaRPr lang="en-US" sz="650" dirty="0"/>
          </a:p>
        </p:txBody>
      </p:sp>
      <p:sp>
        <p:nvSpPr>
          <p:cNvPr id="106" name="Shape 104"/>
          <p:cNvSpPr/>
          <p:nvPr/>
        </p:nvSpPr>
        <p:spPr>
          <a:xfrm>
            <a:off x="8412480" y="3108960"/>
            <a:ext cx="457200" cy="9144"/>
          </a:xfrm>
          <a:prstGeom prst="line">
            <a:avLst/>
          </a:prstGeom>
          <a:noFill/>
          <a:ln w="12700">
            <a:solidFill>
              <a:srgbClr val="0D3F6B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LID4096"/>
          </a:p>
        </p:txBody>
      </p:sp>
      <p:sp>
        <p:nvSpPr>
          <p:cNvPr id="107" name="Text 105"/>
          <p:cNvSpPr/>
          <p:nvPr/>
        </p:nvSpPr>
        <p:spPr>
          <a:xfrm>
            <a:off x="8138160" y="2999232"/>
            <a:ext cx="1005840" cy="228600"/>
          </a:xfrm>
          <a:prstGeom prst="rect">
            <a:avLst/>
          </a:prstGeom>
          <a:solidFill>
            <a:srgbClr val="F8F6F2"/>
          </a:solidFill>
          <a:ln w="5080">
            <a:solidFill>
              <a:srgbClr val="DDDDDD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444444"/>
                </a:solidFill>
              </a:rPr>
              <a:t>Cache invalidation</a:t>
            </a:r>
            <a:endParaRPr lang="en-US" sz="650" dirty="0"/>
          </a:p>
        </p:txBody>
      </p:sp>
      <p:sp>
        <p:nvSpPr>
          <p:cNvPr id="108" name="Shape 106"/>
          <p:cNvSpPr/>
          <p:nvPr/>
        </p:nvSpPr>
        <p:spPr>
          <a:xfrm>
            <a:off x="1188720" y="1883664"/>
            <a:ext cx="320040" cy="694944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LID4096"/>
          </a:p>
        </p:txBody>
      </p:sp>
      <p:sp>
        <p:nvSpPr>
          <p:cNvPr id="109" name="Text 107"/>
          <p:cNvSpPr/>
          <p:nvPr/>
        </p:nvSpPr>
        <p:spPr>
          <a:xfrm>
            <a:off x="695890" y="2117782"/>
            <a:ext cx="1005840" cy="228600"/>
          </a:xfrm>
          <a:prstGeom prst="rect">
            <a:avLst/>
          </a:prstGeom>
          <a:solidFill>
            <a:srgbClr val="F8F6F2"/>
          </a:solidFill>
          <a:ln w="5080">
            <a:solidFill>
              <a:srgbClr val="DDDDDD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444444"/>
                </a:solidFill>
              </a:rPr>
              <a:t>HTTPS:443</a:t>
            </a:r>
            <a:endParaRPr lang="en-US" sz="600" dirty="0"/>
          </a:p>
        </p:txBody>
      </p:sp>
      <p:sp>
        <p:nvSpPr>
          <p:cNvPr id="110" name="Shape 108"/>
          <p:cNvSpPr/>
          <p:nvPr/>
        </p:nvSpPr>
        <p:spPr>
          <a:xfrm>
            <a:off x="2011680" y="1883664"/>
            <a:ext cx="1280160" cy="694944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LID4096"/>
          </a:p>
        </p:txBody>
      </p:sp>
      <p:sp>
        <p:nvSpPr>
          <p:cNvPr id="111" name="Text 109"/>
          <p:cNvSpPr/>
          <p:nvPr/>
        </p:nvSpPr>
        <p:spPr>
          <a:xfrm>
            <a:off x="1990207" y="2117247"/>
            <a:ext cx="1005840" cy="228600"/>
          </a:xfrm>
          <a:prstGeom prst="rect">
            <a:avLst/>
          </a:prstGeom>
          <a:solidFill>
            <a:srgbClr val="F8F6F2"/>
          </a:solidFill>
          <a:ln w="5080">
            <a:solidFill>
              <a:srgbClr val="DDDDDD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444444"/>
                </a:solidFill>
              </a:rPr>
              <a:t>HTTPS:443</a:t>
            </a:r>
            <a:endParaRPr lang="en-US" sz="600" dirty="0"/>
          </a:p>
        </p:txBody>
      </p:sp>
      <p:sp>
        <p:nvSpPr>
          <p:cNvPr id="112" name="Shape 110"/>
          <p:cNvSpPr/>
          <p:nvPr/>
        </p:nvSpPr>
        <p:spPr>
          <a:xfrm>
            <a:off x="2931204" y="1787652"/>
            <a:ext cx="2939244" cy="1006786"/>
          </a:xfrm>
          <a:prstGeom prst="line">
            <a:avLst/>
          </a:prstGeom>
          <a:noFill/>
          <a:ln w="11430">
            <a:solidFill>
              <a:srgbClr val="888888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LID4096"/>
          </a:p>
        </p:txBody>
      </p:sp>
      <p:sp>
        <p:nvSpPr>
          <p:cNvPr id="113" name="Text 111"/>
          <p:cNvSpPr/>
          <p:nvPr/>
        </p:nvSpPr>
        <p:spPr>
          <a:xfrm>
            <a:off x="3743553" y="2087815"/>
            <a:ext cx="1005840" cy="228600"/>
          </a:xfrm>
          <a:prstGeom prst="rect">
            <a:avLst/>
          </a:prstGeom>
          <a:solidFill>
            <a:srgbClr val="F8F6F2"/>
          </a:solidFill>
          <a:ln w="5080">
            <a:solidFill>
              <a:srgbClr val="DDDDDD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444444"/>
                </a:solidFill>
              </a:rPr>
              <a:t>HTTPS:443</a:t>
            </a:r>
            <a:endParaRPr lang="en-US" sz="600" dirty="0"/>
          </a:p>
        </p:txBody>
      </p:sp>
      <p:sp>
        <p:nvSpPr>
          <p:cNvPr id="114" name="Shape 112"/>
          <p:cNvSpPr/>
          <p:nvPr/>
        </p:nvSpPr>
        <p:spPr>
          <a:xfrm>
            <a:off x="182880" y="3726180"/>
            <a:ext cx="27066240" cy="237744"/>
          </a:xfrm>
          <a:prstGeom prst="rect">
            <a:avLst/>
          </a:prstGeom>
          <a:solidFill>
            <a:srgbClr val="0A6648">
              <a:alpha val="85000"/>
            </a:srgbClr>
          </a:solidFill>
          <a:ln w="12700">
            <a:solidFill>
              <a:srgbClr val="0A664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15" name="Text 113"/>
          <p:cNvSpPr/>
          <p:nvPr/>
        </p:nvSpPr>
        <p:spPr>
          <a:xfrm>
            <a:off x="292608" y="3726180"/>
            <a:ext cx="2688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</a:rPr>
              <a:t>LAYER 3 — BACKEND MICROSERVICES</a:t>
            </a:r>
            <a:endParaRPr lang="en-US" sz="800" dirty="0"/>
          </a:p>
        </p:txBody>
      </p:sp>
      <p:sp>
        <p:nvSpPr>
          <p:cNvPr id="116" name="Shape 114"/>
          <p:cNvSpPr/>
          <p:nvPr/>
        </p:nvSpPr>
        <p:spPr>
          <a:xfrm>
            <a:off x="182880" y="4005072"/>
            <a:ext cx="27066240" cy="2020823"/>
          </a:xfrm>
          <a:prstGeom prst="roundRect">
            <a:avLst/>
          </a:prstGeom>
          <a:solidFill>
            <a:srgbClr val="D8F5EC">
              <a:alpha val="70000"/>
            </a:srgbClr>
          </a:solidFill>
          <a:ln w="15240">
            <a:solidFill>
              <a:srgbClr val="0A6648"/>
            </a:solidFill>
            <a:prstDash val="sysDash"/>
          </a:ln>
        </p:spPr>
        <p:txBody>
          <a:bodyPr/>
          <a:lstStyle/>
          <a:p>
            <a:endParaRPr lang="LID4096"/>
          </a:p>
        </p:txBody>
      </p:sp>
      <p:sp>
        <p:nvSpPr>
          <p:cNvPr id="117" name="Text 115"/>
          <p:cNvSpPr/>
          <p:nvPr/>
        </p:nvSpPr>
        <p:spPr>
          <a:xfrm>
            <a:off x="292608" y="4050792"/>
            <a:ext cx="268833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A6648"/>
                </a:solidFill>
              </a:rPr>
              <a:t>Phase 1 — Core Services (MVP)</a:t>
            </a:r>
            <a:endParaRPr lang="en-US" sz="800" dirty="0"/>
          </a:p>
        </p:txBody>
      </p:sp>
      <p:sp>
        <p:nvSpPr>
          <p:cNvPr id="118" name="Shape 116"/>
          <p:cNvSpPr/>
          <p:nvPr/>
        </p:nvSpPr>
        <p:spPr>
          <a:xfrm>
            <a:off x="173736" y="6995160"/>
            <a:ext cx="16916400" cy="1463040"/>
          </a:xfrm>
          <a:prstGeom prst="roundRect">
            <a:avLst/>
          </a:prstGeom>
          <a:solidFill>
            <a:srgbClr val="ECEAF9">
              <a:alpha val="70000"/>
            </a:srgbClr>
          </a:solidFill>
          <a:ln w="15240">
            <a:solidFill>
              <a:srgbClr val="4A42A8"/>
            </a:solidFill>
            <a:prstDash val="sysDash"/>
          </a:ln>
        </p:spPr>
        <p:txBody>
          <a:bodyPr/>
          <a:lstStyle/>
          <a:p>
            <a:endParaRPr lang="LID4096"/>
          </a:p>
        </p:txBody>
      </p:sp>
      <p:sp>
        <p:nvSpPr>
          <p:cNvPr id="119" name="Text 117"/>
          <p:cNvSpPr/>
          <p:nvPr/>
        </p:nvSpPr>
        <p:spPr>
          <a:xfrm>
            <a:off x="292608" y="7040880"/>
            <a:ext cx="167335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4A42A8"/>
                </a:solidFill>
              </a:rPr>
              <a:t>Phase 2</a:t>
            </a:r>
            <a:endParaRPr lang="en-US" sz="800" dirty="0"/>
          </a:p>
        </p:txBody>
      </p:sp>
      <p:sp>
        <p:nvSpPr>
          <p:cNvPr id="120" name="Shape 118"/>
          <p:cNvSpPr/>
          <p:nvPr/>
        </p:nvSpPr>
        <p:spPr>
          <a:xfrm>
            <a:off x="17373600" y="6995160"/>
            <a:ext cx="9875520" cy="1463040"/>
          </a:xfrm>
          <a:prstGeom prst="roundRect">
            <a:avLst/>
          </a:prstGeom>
          <a:solidFill>
            <a:srgbClr val="FCEEE9">
              <a:alpha val="70000"/>
            </a:srgbClr>
          </a:solidFill>
          <a:ln w="15240">
            <a:solidFill>
              <a:srgbClr val="8B3318"/>
            </a:solidFill>
            <a:prstDash val="sysDash"/>
          </a:ln>
        </p:spPr>
        <p:txBody>
          <a:bodyPr/>
          <a:lstStyle/>
          <a:p>
            <a:endParaRPr lang="LID4096"/>
          </a:p>
        </p:txBody>
      </p:sp>
      <p:sp>
        <p:nvSpPr>
          <p:cNvPr id="121" name="Text 119"/>
          <p:cNvSpPr/>
          <p:nvPr/>
        </p:nvSpPr>
        <p:spPr>
          <a:xfrm>
            <a:off x="17483328" y="7040880"/>
            <a:ext cx="969264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8B3318"/>
                </a:solidFill>
              </a:rPr>
              <a:t>Phase 3</a:t>
            </a:r>
            <a:endParaRPr lang="en-US" sz="800" dirty="0"/>
          </a:p>
        </p:txBody>
      </p:sp>
      <p:sp>
        <p:nvSpPr>
          <p:cNvPr id="122" name="Shape 120"/>
          <p:cNvSpPr/>
          <p:nvPr/>
        </p:nvSpPr>
        <p:spPr>
          <a:xfrm>
            <a:off x="457200" y="4315968"/>
            <a:ext cx="1188720" cy="1078992"/>
          </a:xfrm>
          <a:prstGeom prst="homePlate">
            <a:avLst/>
          </a:prstGeom>
          <a:solidFill>
            <a:srgbClr val="0A6648"/>
          </a:solidFill>
          <a:ln w="1270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23" name="Shape 121"/>
          <p:cNvSpPr/>
          <p:nvPr/>
        </p:nvSpPr>
        <p:spPr>
          <a:xfrm>
            <a:off x="635508" y="4445447"/>
            <a:ext cx="832104" cy="809244"/>
          </a:xfrm>
          <a:prstGeom prst="homePlate">
            <a:avLst/>
          </a:prstGeom>
          <a:solidFill>
            <a:srgbClr val="FFFFFF">
              <a:alpha val="60000"/>
            </a:srgbClr>
          </a:solidFill>
          <a:ln w="5080">
            <a:solidFill>
              <a:srgbClr val="0A664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24" name="Text 122"/>
          <p:cNvSpPr/>
          <p:nvPr/>
        </p:nvSpPr>
        <p:spPr>
          <a:xfrm>
            <a:off x="457200" y="4585716"/>
            <a:ext cx="118872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🔐</a:t>
            </a:r>
            <a:endParaRPr lang="en-US" sz="1600" dirty="0"/>
          </a:p>
        </p:txBody>
      </p:sp>
      <p:sp>
        <p:nvSpPr>
          <p:cNvPr id="125" name="Text 123"/>
          <p:cNvSpPr/>
          <p:nvPr/>
        </p:nvSpPr>
        <p:spPr>
          <a:xfrm>
            <a:off x="365760" y="5449824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444444"/>
                </a:solidFill>
              </a:rPr>
              <a:t>Auth Service</a:t>
            </a:r>
            <a:endParaRPr lang="en-US" sz="800" dirty="0"/>
          </a:p>
        </p:txBody>
      </p:sp>
      <p:sp>
        <p:nvSpPr>
          <p:cNvPr id="126" name="Text 124"/>
          <p:cNvSpPr/>
          <p:nvPr/>
        </p:nvSpPr>
        <p:spPr>
          <a:xfrm>
            <a:off x="365760" y="5660136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666666"/>
                </a:solidFill>
              </a:rPr>
              <a:t>JWT · OAuth · RBAC</a:t>
            </a:r>
            <a:endParaRPr lang="en-US" sz="65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666666"/>
                </a:solidFill>
              </a:rPr>
              <a:t>GDPR consent</a:t>
            </a:r>
            <a:endParaRPr lang="en-US" sz="650" dirty="0"/>
          </a:p>
        </p:txBody>
      </p:sp>
      <p:sp>
        <p:nvSpPr>
          <p:cNvPr id="127" name="Shape 125"/>
          <p:cNvSpPr/>
          <p:nvPr/>
        </p:nvSpPr>
        <p:spPr>
          <a:xfrm>
            <a:off x="2286000" y="4343400"/>
            <a:ext cx="11430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28" name="Shape 126"/>
          <p:cNvSpPr/>
          <p:nvPr/>
        </p:nvSpPr>
        <p:spPr>
          <a:xfrm>
            <a:off x="2331720" y="4389120"/>
            <a:ext cx="342900" cy="342900"/>
          </a:xfrm>
          <a:prstGeom prst="rect">
            <a:avLst/>
          </a:prstGeom>
          <a:solidFill>
            <a:srgbClr val="0A6648"/>
          </a:solidFill>
          <a:ln w="508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29" name="Shape 127"/>
          <p:cNvSpPr/>
          <p:nvPr/>
        </p:nvSpPr>
        <p:spPr>
          <a:xfrm>
            <a:off x="2400300" y="4457700"/>
            <a:ext cx="205740" cy="2057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30" name="Shape 128"/>
          <p:cNvSpPr/>
          <p:nvPr/>
        </p:nvSpPr>
        <p:spPr>
          <a:xfrm>
            <a:off x="2451735" y="4509135"/>
            <a:ext cx="102870" cy="102870"/>
          </a:xfrm>
          <a:prstGeom prst="rect">
            <a:avLst/>
          </a:prstGeom>
          <a:solidFill>
            <a:srgbClr val="0A6648"/>
          </a:solidFill>
          <a:ln w="12700">
            <a:solidFill>
              <a:srgbClr val="0A664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31" name="Shape 129"/>
          <p:cNvSpPr/>
          <p:nvPr/>
        </p:nvSpPr>
        <p:spPr>
          <a:xfrm>
            <a:off x="3040380" y="4389120"/>
            <a:ext cx="342900" cy="342900"/>
          </a:xfrm>
          <a:prstGeom prst="rect">
            <a:avLst/>
          </a:prstGeom>
          <a:solidFill>
            <a:srgbClr val="0A6648"/>
          </a:solidFill>
          <a:ln w="508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32" name="Shape 130"/>
          <p:cNvSpPr/>
          <p:nvPr/>
        </p:nvSpPr>
        <p:spPr>
          <a:xfrm>
            <a:off x="3108960" y="4457700"/>
            <a:ext cx="205740" cy="2057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33" name="Shape 131"/>
          <p:cNvSpPr/>
          <p:nvPr/>
        </p:nvSpPr>
        <p:spPr>
          <a:xfrm>
            <a:off x="3160395" y="4509135"/>
            <a:ext cx="102870" cy="102870"/>
          </a:xfrm>
          <a:prstGeom prst="rect">
            <a:avLst/>
          </a:prstGeom>
          <a:solidFill>
            <a:srgbClr val="0A6648"/>
          </a:solidFill>
          <a:ln w="12700">
            <a:solidFill>
              <a:srgbClr val="0A664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34" name="Shape 132"/>
          <p:cNvSpPr/>
          <p:nvPr/>
        </p:nvSpPr>
        <p:spPr>
          <a:xfrm>
            <a:off x="2331720" y="5006340"/>
            <a:ext cx="342900" cy="342900"/>
          </a:xfrm>
          <a:prstGeom prst="rect">
            <a:avLst/>
          </a:prstGeom>
          <a:solidFill>
            <a:srgbClr val="0A6648"/>
          </a:solidFill>
          <a:ln w="508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35" name="Shape 133"/>
          <p:cNvSpPr/>
          <p:nvPr/>
        </p:nvSpPr>
        <p:spPr>
          <a:xfrm>
            <a:off x="2400300" y="5074920"/>
            <a:ext cx="205740" cy="2057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36" name="Shape 134"/>
          <p:cNvSpPr/>
          <p:nvPr/>
        </p:nvSpPr>
        <p:spPr>
          <a:xfrm>
            <a:off x="2451735" y="5126355"/>
            <a:ext cx="102870" cy="102870"/>
          </a:xfrm>
          <a:prstGeom prst="rect">
            <a:avLst/>
          </a:prstGeom>
          <a:solidFill>
            <a:srgbClr val="0A6648"/>
          </a:solidFill>
          <a:ln w="12700">
            <a:solidFill>
              <a:srgbClr val="0A664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37" name="Shape 135"/>
          <p:cNvSpPr/>
          <p:nvPr/>
        </p:nvSpPr>
        <p:spPr>
          <a:xfrm>
            <a:off x="2914650" y="4469587"/>
            <a:ext cx="114300" cy="105156"/>
          </a:xfrm>
          <a:prstGeom prst="rect">
            <a:avLst/>
          </a:prstGeom>
          <a:solidFill>
            <a:srgbClr val="0A6648"/>
          </a:solidFill>
          <a:ln w="12700">
            <a:solidFill>
              <a:srgbClr val="0A664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38" name="Shape 136"/>
          <p:cNvSpPr/>
          <p:nvPr/>
        </p:nvSpPr>
        <p:spPr>
          <a:xfrm>
            <a:off x="3108960" y="4469587"/>
            <a:ext cx="114300" cy="105156"/>
          </a:xfrm>
          <a:prstGeom prst="rect">
            <a:avLst/>
          </a:prstGeom>
          <a:solidFill>
            <a:srgbClr val="0A6648"/>
          </a:solidFill>
          <a:ln w="12700">
            <a:solidFill>
              <a:srgbClr val="0A664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39" name="Shape 137"/>
          <p:cNvSpPr/>
          <p:nvPr/>
        </p:nvSpPr>
        <p:spPr>
          <a:xfrm>
            <a:off x="3291840" y="4469587"/>
            <a:ext cx="114300" cy="105156"/>
          </a:xfrm>
          <a:prstGeom prst="rect">
            <a:avLst/>
          </a:prstGeom>
          <a:solidFill>
            <a:srgbClr val="0A6648"/>
          </a:solidFill>
          <a:ln w="12700">
            <a:solidFill>
              <a:srgbClr val="0A664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40" name="Shape 138"/>
          <p:cNvSpPr/>
          <p:nvPr/>
        </p:nvSpPr>
        <p:spPr>
          <a:xfrm>
            <a:off x="2914650" y="4637837"/>
            <a:ext cx="114300" cy="105156"/>
          </a:xfrm>
          <a:prstGeom prst="rect">
            <a:avLst/>
          </a:prstGeom>
          <a:solidFill>
            <a:srgbClr val="0A6648"/>
          </a:solidFill>
          <a:ln w="12700">
            <a:solidFill>
              <a:srgbClr val="0A664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41" name="Shape 139"/>
          <p:cNvSpPr/>
          <p:nvPr/>
        </p:nvSpPr>
        <p:spPr>
          <a:xfrm>
            <a:off x="3108960" y="4637837"/>
            <a:ext cx="114300" cy="105156"/>
          </a:xfrm>
          <a:prstGeom prst="rect">
            <a:avLst/>
          </a:prstGeom>
          <a:solidFill>
            <a:srgbClr val="0A6648"/>
          </a:solidFill>
          <a:ln w="12700">
            <a:solidFill>
              <a:srgbClr val="0A664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42" name="Shape 140"/>
          <p:cNvSpPr/>
          <p:nvPr/>
        </p:nvSpPr>
        <p:spPr>
          <a:xfrm>
            <a:off x="2914650" y="4921758"/>
            <a:ext cx="114300" cy="105156"/>
          </a:xfrm>
          <a:prstGeom prst="rect">
            <a:avLst/>
          </a:prstGeom>
          <a:solidFill>
            <a:srgbClr val="0A6648"/>
          </a:solidFill>
          <a:ln w="12700">
            <a:solidFill>
              <a:srgbClr val="0A664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43" name="Shape 141"/>
          <p:cNvSpPr/>
          <p:nvPr/>
        </p:nvSpPr>
        <p:spPr>
          <a:xfrm>
            <a:off x="3108960" y="4921758"/>
            <a:ext cx="114300" cy="105156"/>
          </a:xfrm>
          <a:prstGeom prst="rect">
            <a:avLst/>
          </a:prstGeom>
          <a:solidFill>
            <a:srgbClr val="0A6648"/>
          </a:solidFill>
          <a:ln w="12700">
            <a:solidFill>
              <a:srgbClr val="0A664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44" name="Shape 142"/>
          <p:cNvSpPr/>
          <p:nvPr/>
        </p:nvSpPr>
        <p:spPr>
          <a:xfrm>
            <a:off x="3291840" y="4921758"/>
            <a:ext cx="114300" cy="105156"/>
          </a:xfrm>
          <a:prstGeom prst="rect">
            <a:avLst/>
          </a:prstGeom>
          <a:solidFill>
            <a:srgbClr val="0A6648"/>
          </a:solidFill>
          <a:ln w="12700">
            <a:solidFill>
              <a:srgbClr val="0A664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45" name="Shape 143"/>
          <p:cNvSpPr/>
          <p:nvPr/>
        </p:nvSpPr>
        <p:spPr>
          <a:xfrm>
            <a:off x="2914650" y="5100523"/>
            <a:ext cx="114300" cy="105156"/>
          </a:xfrm>
          <a:prstGeom prst="rect">
            <a:avLst/>
          </a:prstGeom>
          <a:solidFill>
            <a:srgbClr val="0A6648"/>
          </a:solidFill>
          <a:ln w="12700">
            <a:solidFill>
              <a:srgbClr val="0A664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46" name="Shape 144"/>
          <p:cNvSpPr/>
          <p:nvPr/>
        </p:nvSpPr>
        <p:spPr>
          <a:xfrm>
            <a:off x="3291840" y="5100523"/>
            <a:ext cx="114300" cy="105156"/>
          </a:xfrm>
          <a:prstGeom prst="rect">
            <a:avLst/>
          </a:prstGeom>
          <a:solidFill>
            <a:srgbClr val="0A6648"/>
          </a:solidFill>
          <a:ln w="12700">
            <a:solidFill>
              <a:srgbClr val="0A664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47" name="Shape 145"/>
          <p:cNvSpPr/>
          <p:nvPr/>
        </p:nvSpPr>
        <p:spPr>
          <a:xfrm>
            <a:off x="2914650" y="5268773"/>
            <a:ext cx="114300" cy="105156"/>
          </a:xfrm>
          <a:prstGeom prst="rect">
            <a:avLst/>
          </a:prstGeom>
          <a:solidFill>
            <a:srgbClr val="0A6648"/>
          </a:solidFill>
          <a:ln w="12700">
            <a:solidFill>
              <a:srgbClr val="0A664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48" name="Shape 146"/>
          <p:cNvSpPr/>
          <p:nvPr/>
        </p:nvSpPr>
        <p:spPr>
          <a:xfrm>
            <a:off x="3108960" y="5268773"/>
            <a:ext cx="114300" cy="105156"/>
          </a:xfrm>
          <a:prstGeom prst="rect">
            <a:avLst/>
          </a:prstGeom>
          <a:solidFill>
            <a:srgbClr val="0A6648"/>
          </a:solidFill>
          <a:ln w="12700">
            <a:solidFill>
              <a:srgbClr val="0A664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49" name="Shape 147"/>
          <p:cNvSpPr/>
          <p:nvPr/>
        </p:nvSpPr>
        <p:spPr>
          <a:xfrm>
            <a:off x="3108960" y="5100523"/>
            <a:ext cx="114300" cy="105156"/>
          </a:xfrm>
          <a:prstGeom prst="rect">
            <a:avLst/>
          </a:prstGeom>
          <a:solidFill>
            <a:srgbClr val="0A6648"/>
          </a:solidFill>
          <a:ln w="12700">
            <a:solidFill>
              <a:srgbClr val="0A664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50" name="Text 148"/>
          <p:cNvSpPr/>
          <p:nvPr/>
        </p:nvSpPr>
        <p:spPr>
          <a:xfrm>
            <a:off x="2194560" y="5449824"/>
            <a:ext cx="1325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444444"/>
                </a:solidFill>
              </a:rPr>
              <a:t>QR Engine</a:t>
            </a:r>
            <a:endParaRPr lang="en-US" sz="800" dirty="0"/>
          </a:p>
        </p:txBody>
      </p:sp>
      <p:sp>
        <p:nvSpPr>
          <p:cNvPr id="151" name="Text 149"/>
          <p:cNvSpPr/>
          <p:nvPr/>
        </p:nvSpPr>
        <p:spPr>
          <a:xfrm>
            <a:off x="2194560" y="5660136"/>
            <a:ext cx="1325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666666"/>
                </a:solidFill>
              </a:rPr>
              <a:t>HMAC-SHA256</a:t>
            </a:r>
            <a:endParaRPr lang="en-US" sz="65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666666"/>
                </a:solidFill>
              </a:rPr>
              <a:t>Time-gate · Batch</a:t>
            </a:r>
            <a:endParaRPr lang="en-US" sz="650" dirty="0"/>
          </a:p>
        </p:txBody>
      </p:sp>
      <p:sp>
        <p:nvSpPr>
          <p:cNvPr id="152" name="Shape 150"/>
          <p:cNvSpPr/>
          <p:nvPr/>
        </p:nvSpPr>
        <p:spPr>
          <a:xfrm>
            <a:off x="4023360" y="4251960"/>
            <a:ext cx="3200400" cy="1234440"/>
          </a:xfrm>
          <a:prstGeom prst="roundRect">
            <a:avLst/>
          </a:prstGeom>
          <a:solidFill>
            <a:srgbClr val="0A6648"/>
          </a:solidFill>
          <a:ln w="762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53" name="Shape 151"/>
          <p:cNvSpPr/>
          <p:nvPr/>
        </p:nvSpPr>
        <p:spPr>
          <a:xfrm>
            <a:off x="4032504" y="4261104"/>
            <a:ext cx="3182112" cy="274320"/>
          </a:xfrm>
          <a:prstGeom prst="rect">
            <a:avLst/>
          </a:prstGeom>
          <a:solidFill>
            <a:srgbClr val="0A6648"/>
          </a:solidFill>
          <a:ln w="12700">
            <a:solidFill>
              <a:srgbClr val="0A664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54" name="Shape 152"/>
          <p:cNvSpPr/>
          <p:nvPr/>
        </p:nvSpPr>
        <p:spPr>
          <a:xfrm>
            <a:off x="4019892" y="4254798"/>
            <a:ext cx="3182112" cy="274320"/>
          </a:xfrm>
          <a:prstGeom prst="roundRect">
            <a:avLst/>
          </a:prstGeom>
          <a:solidFill>
            <a:srgbClr val="0A6648"/>
          </a:solidFill>
          <a:ln w="12700">
            <a:solidFill>
              <a:srgbClr val="0A664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55" name="Shape 153"/>
          <p:cNvSpPr/>
          <p:nvPr/>
        </p:nvSpPr>
        <p:spPr>
          <a:xfrm>
            <a:off x="6839712" y="4297680"/>
            <a:ext cx="329184" cy="173736"/>
          </a:xfrm>
          <a:prstGeom prst="round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56" name="Text 154"/>
          <p:cNvSpPr/>
          <p:nvPr/>
        </p:nvSpPr>
        <p:spPr>
          <a:xfrm>
            <a:off x="6839712" y="4288536"/>
            <a:ext cx="329184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</a:rPr>
              <a:t>P1</a:t>
            </a:r>
            <a:endParaRPr lang="en-US" sz="600" dirty="0"/>
          </a:p>
        </p:txBody>
      </p:sp>
      <p:sp>
        <p:nvSpPr>
          <p:cNvPr id="157" name="Text 155"/>
          <p:cNvSpPr/>
          <p:nvPr/>
        </p:nvSpPr>
        <p:spPr>
          <a:xfrm>
            <a:off x="4096512" y="4288536"/>
            <a:ext cx="27249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FFFFF"/>
                </a:solidFill>
              </a:rPr>
              <a:t>Content Service</a:t>
            </a:r>
            <a:endParaRPr lang="en-US" sz="850" dirty="0"/>
          </a:p>
        </p:txBody>
      </p:sp>
      <p:sp>
        <p:nvSpPr>
          <p:cNvPr id="158" name="Text 156"/>
          <p:cNvSpPr/>
          <p:nvPr/>
        </p:nvSpPr>
        <p:spPr>
          <a:xfrm>
            <a:off x="4309347" y="4676829"/>
            <a:ext cx="3054096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720" dirty="0">
                <a:solidFill>
                  <a:schemeClr val="bg1"/>
                </a:solidFill>
              </a:rPr>
              <a:t>Zone routing · Day-gate</a:t>
            </a:r>
          </a:p>
          <a:p>
            <a:pPr marL="0" indent="0" algn="l">
              <a:buNone/>
            </a:pPr>
            <a:r>
              <a:rPr lang="en-US" sz="720" dirty="0">
                <a:solidFill>
                  <a:schemeClr val="bg1"/>
                </a:solidFill>
              </a:rPr>
              <a:t>S3 signed URLs</a:t>
            </a:r>
          </a:p>
        </p:txBody>
      </p:sp>
      <p:sp>
        <p:nvSpPr>
          <p:cNvPr id="159" name="Shape 157"/>
          <p:cNvSpPr/>
          <p:nvPr/>
        </p:nvSpPr>
        <p:spPr>
          <a:xfrm>
            <a:off x="7589520" y="4251960"/>
            <a:ext cx="3383280" cy="1234440"/>
          </a:xfrm>
          <a:prstGeom prst="roundRect">
            <a:avLst/>
          </a:prstGeom>
          <a:solidFill>
            <a:srgbClr val="0D5E48"/>
          </a:solidFill>
          <a:ln w="762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60" name="Shape 158"/>
          <p:cNvSpPr/>
          <p:nvPr/>
        </p:nvSpPr>
        <p:spPr>
          <a:xfrm>
            <a:off x="7598664" y="4261104"/>
            <a:ext cx="3364992" cy="274320"/>
          </a:xfrm>
          <a:prstGeom prst="rect">
            <a:avLst/>
          </a:prstGeom>
          <a:solidFill>
            <a:srgbClr val="0D5E48"/>
          </a:solidFill>
          <a:ln w="12700">
            <a:solidFill>
              <a:srgbClr val="0D5E4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61" name="Shape 159"/>
          <p:cNvSpPr/>
          <p:nvPr/>
        </p:nvSpPr>
        <p:spPr>
          <a:xfrm>
            <a:off x="7598664" y="4261104"/>
            <a:ext cx="3364992" cy="274320"/>
          </a:xfrm>
          <a:prstGeom prst="roundRect">
            <a:avLst/>
          </a:prstGeom>
          <a:solidFill>
            <a:srgbClr val="0D5E48"/>
          </a:solidFill>
          <a:ln w="12700">
            <a:solidFill>
              <a:srgbClr val="0D5E4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62" name="Shape 160"/>
          <p:cNvSpPr/>
          <p:nvPr/>
        </p:nvSpPr>
        <p:spPr>
          <a:xfrm>
            <a:off x="10588752" y="4297680"/>
            <a:ext cx="329184" cy="173736"/>
          </a:xfrm>
          <a:prstGeom prst="round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63" name="Text 161"/>
          <p:cNvSpPr/>
          <p:nvPr/>
        </p:nvSpPr>
        <p:spPr>
          <a:xfrm>
            <a:off x="10588752" y="4288536"/>
            <a:ext cx="329184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</a:rPr>
              <a:t>P1</a:t>
            </a:r>
            <a:endParaRPr lang="en-US" sz="600" dirty="0"/>
          </a:p>
        </p:txBody>
      </p:sp>
      <p:sp>
        <p:nvSpPr>
          <p:cNvPr id="164" name="Text 162"/>
          <p:cNvSpPr/>
          <p:nvPr/>
        </p:nvSpPr>
        <p:spPr>
          <a:xfrm>
            <a:off x="7662672" y="4288536"/>
            <a:ext cx="29077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FFFFF"/>
                </a:solidFill>
              </a:rPr>
              <a:t>Campaign Service</a:t>
            </a:r>
            <a:endParaRPr lang="en-US" sz="850" dirty="0"/>
          </a:p>
        </p:txBody>
      </p:sp>
      <p:sp>
        <p:nvSpPr>
          <p:cNvPr id="165" name="Text 163"/>
          <p:cNvSpPr/>
          <p:nvPr/>
        </p:nvSpPr>
        <p:spPr>
          <a:xfrm>
            <a:off x="7940650" y="4690872"/>
            <a:ext cx="3236976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720" dirty="0">
                <a:solidFill>
                  <a:schemeClr val="bg1"/>
                </a:solidFill>
              </a:rPr>
              <a:t>Lifecycle state machine</a:t>
            </a:r>
          </a:p>
          <a:p>
            <a:pPr marL="0" indent="0" algn="l">
              <a:buNone/>
            </a:pPr>
            <a:r>
              <a:rPr lang="en-US" sz="720" dirty="0">
                <a:solidFill>
                  <a:schemeClr val="bg1"/>
                </a:solidFill>
              </a:rPr>
              <a:t>Fulfilment · Go-live gate</a:t>
            </a:r>
          </a:p>
        </p:txBody>
      </p:sp>
      <p:sp>
        <p:nvSpPr>
          <p:cNvPr id="166" name="Shape 164"/>
          <p:cNvSpPr/>
          <p:nvPr/>
        </p:nvSpPr>
        <p:spPr>
          <a:xfrm>
            <a:off x="11338560" y="4251960"/>
            <a:ext cx="3383280" cy="1234440"/>
          </a:xfrm>
          <a:prstGeom prst="roundRect">
            <a:avLst/>
          </a:prstGeom>
          <a:solidFill>
            <a:srgbClr val="0A4F40"/>
          </a:solidFill>
          <a:ln w="762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67" name="Shape 165"/>
          <p:cNvSpPr/>
          <p:nvPr/>
        </p:nvSpPr>
        <p:spPr>
          <a:xfrm>
            <a:off x="11347704" y="4261104"/>
            <a:ext cx="3364992" cy="274320"/>
          </a:xfrm>
          <a:prstGeom prst="rect">
            <a:avLst/>
          </a:prstGeom>
          <a:solidFill>
            <a:srgbClr val="0A4F40"/>
          </a:solidFill>
          <a:ln w="12700">
            <a:solidFill>
              <a:srgbClr val="0A4F4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68" name="Shape 166"/>
          <p:cNvSpPr/>
          <p:nvPr/>
        </p:nvSpPr>
        <p:spPr>
          <a:xfrm>
            <a:off x="11347704" y="4261104"/>
            <a:ext cx="3364992" cy="274320"/>
          </a:xfrm>
          <a:prstGeom prst="roundRect">
            <a:avLst/>
          </a:prstGeom>
          <a:solidFill>
            <a:srgbClr val="0A4F40"/>
          </a:solidFill>
          <a:ln w="12700">
            <a:solidFill>
              <a:srgbClr val="0A4F4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69" name="Shape 167"/>
          <p:cNvSpPr/>
          <p:nvPr/>
        </p:nvSpPr>
        <p:spPr>
          <a:xfrm>
            <a:off x="14337792" y="4297680"/>
            <a:ext cx="329184" cy="173736"/>
          </a:xfrm>
          <a:prstGeom prst="round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70" name="Text 168"/>
          <p:cNvSpPr/>
          <p:nvPr/>
        </p:nvSpPr>
        <p:spPr>
          <a:xfrm>
            <a:off x="14337792" y="4288536"/>
            <a:ext cx="329184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</a:rPr>
              <a:t>P1</a:t>
            </a:r>
            <a:endParaRPr lang="en-US" sz="600" dirty="0"/>
          </a:p>
        </p:txBody>
      </p:sp>
      <p:sp>
        <p:nvSpPr>
          <p:cNvPr id="171" name="Text 169"/>
          <p:cNvSpPr/>
          <p:nvPr/>
        </p:nvSpPr>
        <p:spPr>
          <a:xfrm>
            <a:off x="11411712" y="4288536"/>
            <a:ext cx="29077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FFFFF"/>
                </a:solidFill>
              </a:rPr>
              <a:t>Analytics Service</a:t>
            </a:r>
            <a:endParaRPr lang="en-US" sz="850" dirty="0"/>
          </a:p>
        </p:txBody>
      </p:sp>
      <p:sp>
        <p:nvSpPr>
          <p:cNvPr id="172" name="Text 170"/>
          <p:cNvSpPr/>
          <p:nvPr/>
        </p:nvSpPr>
        <p:spPr>
          <a:xfrm>
            <a:off x="11750040" y="4692015"/>
            <a:ext cx="3236976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720" dirty="0">
                <a:solidFill>
                  <a:schemeClr val="bg1"/>
                </a:solidFill>
              </a:rPr>
              <a:t>Events · Zone scoring</a:t>
            </a:r>
          </a:p>
          <a:p>
            <a:pPr marL="0" indent="0" algn="l">
              <a:buNone/>
            </a:pPr>
            <a:r>
              <a:rPr lang="en-US" sz="720" dirty="0">
                <a:solidFill>
                  <a:schemeClr val="bg1"/>
                </a:solidFill>
              </a:rPr>
              <a:t>Real-time rollups</a:t>
            </a:r>
          </a:p>
        </p:txBody>
      </p:sp>
      <p:sp>
        <p:nvSpPr>
          <p:cNvPr id="173" name="Shape 171"/>
          <p:cNvSpPr/>
          <p:nvPr/>
        </p:nvSpPr>
        <p:spPr>
          <a:xfrm>
            <a:off x="15179040" y="4315968"/>
            <a:ext cx="1280160" cy="1078992"/>
          </a:xfrm>
          <a:prstGeom prst="ellipse">
            <a:avLst/>
          </a:prstGeom>
          <a:solidFill>
            <a:srgbClr val="0C5A3C"/>
          </a:solidFill>
          <a:ln w="1270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74" name="Shape 172"/>
          <p:cNvSpPr/>
          <p:nvPr/>
        </p:nvSpPr>
        <p:spPr>
          <a:xfrm>
            <a:off x="15563088" y="4639666"/>
            <a:ext cx="512064" cy="431597"/>
          </a:xfrm>
          <a:prstGeom prst="ellipse">
            <a:avLst/>
          </a:prstGeom>
          <a:solidFill>
            <a:srgbClr val="F0EEE8"/>
          </a:solidFill>
          <a:ln w="1270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75" name="Shape 173"/>
          <p:cNvSpPr/>
          <p:nvPr/>
        </p:nvSpPr>
        <p:spPr>
          <a:xfrm>
            <a:off x="16279978" y="4790724"/>
            <a:ext cx="153619" cy="129479"/>
          </a:xfrm>
          <a:prstGeom prst="rect">
            <a:avLst/>
          </a:prstGeom>
          <a:solidFill>
            <a:srgbClr val="0C5A3C"/>
          </a:solidFill>
          <a:ln w="508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76" name="Shape 174"/>
          <p:cNvSpPr/>
          <p:nvPr/>
        </p:nvSpPr>
        <p:spPr>
          <a:xfrm>
            <a:off x="16122499" y="5111169"/>
            <a:ext cx="153619" cy="129479"/>
          </a:xfrm>
          <a:prstGeom prst="rect">
            <a:avLst/>
          </a:prstGeom>
          <a:solidFill>
            <a:srgbClr val="0C5A3C"/>
          </a:solidFill>
          <a:ln w="508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77" name="Shape 175"/>
          <p:cNvSpPr/>
          <p:nvPr/>
        </p:nvSpPr>
        <p:spPr>
          <a:xfrm>
            <a:off x="15742310" y="5243901"/>
            <a:ext cx="153619" cy="129479"/>
          </a:xfrm>
          <a:prstGeom prst="rect">
            <a:avLst/>
          </a:prstGeom>
          <a:solidFill>
            <a:srgbClr val="0C5A3C"/>
          </a:solidFill>
          <a:ln w="508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78" name="Shape 176"/>
          <p:cNvSpPr/>
          <p:nvPr/>
        </p:nvSpPr>
        <p:spPr>
          <a:xfrm>
            <a:off x="15362122" y="5111169"/>
            <a:ext cx="153619" cy="129479"/>
          </a:xfrm>
          <a:prstGeom prst="rect">
            <a:avLst/>
          </a:prstGeom>
          <a:solidFill>
            <a:srgbClr val="0C5A3C"/>
          </a:solidFill>
          <a:ln w="508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79" name="Shape 177"/>
          <p:cNvSpPr/>
          <p:nvPr/>
        </p:nvSpPr>
        <p:spPr>
          <a:xfrm>
            <a:off x="15204643" y="4790724"/>
            <a:ext cx="153619" cy="129479"/>
          </a:xfrm>
          <a:prstGeom prst="rect">
            <a:avLst/>
          </a:prstGeom>
          <a:solidFill>
            <a:srgbClr val="0C5A3C"/>
          </a:solidFill>
          <a:ln w="508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80" name="Shape 178"/>
          <p:cNvSpPr/>
          <p:nvPr/>
        </p:nvSpPr>
        <p:spPr>
          <a:xfrm>
            <a:off x="15362122" y="4470280"/>
            <a:ext cx="153619" cy="129479"/>
          </a:xfrm>
          <a:prstGeom prst="rect">
            <a:avLst/>
          </a:prstGeom>
          <a:solidFill>
            <a:srgbClr val="0C5A3C"/>
          </a:solidFill>
          <a:ln w="508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81" name="Shape 179"/>
          <p:cNvSpPr/>
          <p:nvPr/>
        </p:nvSpPr>
        <p:spPr>
          <a:xfrm>
            <a:off x="15742310" y="4337548"/>
            <a:ext cx="153619" cy="129479"/>
          </a:xfrm>
          <a:prstGeom prst="rect">
            <a:avLst/>
          </a:prstGeom>
          <a:solidFill>
            <a:srgbClr val="0C5A3C"/>
          </a:solidFill>
          <a:ln w="508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82" name="Shape 180"/>
          <p:cNvSpPr/>
          <p:nvPr/>
        </p:nvSpPr>
        <p:spPr>
          <a:xfrm>
            <a:off x="16122499" y="4470280"/>
            <a:ext cx="153619" cy="129479"/>
          </a:xfrm>
          <a:prstGeom prst="rect">
            <a:avLst/>
          </a:prstGeom>
          <a:solidFill>
            <a:srgbClr val="0C5A3C"/>
          </a:solidFill>
          <a:ln w="508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83" name="Text 181"/>
          <p:cNvSpPr/>
          <p:nvPr/>
        </p:nvSpPr>
        <p:spPr>
          <a:xfrm>
            <a:off x="15087600" y="5449824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444444"/>
                </a:solidFill>
              </a:rPr>
              <a:t>Commerce Service</a:t>
            </a:r>
            <a:endParaRPr lang="en-US" sz="800" dirty="0"/>
          </a:p>
        </p:txBody>
      </p:sp>
      <p:sp>
        <p:nvSpPr>
          <p:cNvPr id="184" name="Text 182"/>
          <p:cNvSpPr/>
          <p:nvPr/>
        </p:nvSpPr>
        <p:spPr>
          <a:xfrm>
            <a:off x="15087600" y="5660136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666666"/>
                </a:solidFill>
              </a:rPr>
              <a:t>Products · Partners</a:t>
            </a:r>
            <a:endParaRPr lang="en-US" sz="65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666666"/>
                </a:solidFill>
              </a:rPr>
              <a:t>Preorders · Attribution</a:t>
            </a:r>
            <a:endParaRPr lang="en-US" sz="650" dirty="0"/>
          </a:p>
        </p:txBody>
      </p:sp>
      <p:sp>
        <p:nvSpPr>
          <p:cNvPr id="185" name="Shape 183"/>
          <p:cNvSpPr/>
          <p:nvPr/>
        </p:nvSpPr>
        <p:spPr>
          <a:xfrm>
            <a:off x="1645920" y="4855464"/>
            <a:ext cx="640080" cy="9144"/>
          </a:xfrm>
          <a:prstGeom prst="line">
            <a:avLst/>
          </a:prstGeom>
          <a:noFill/>
          <a:ln w="11430">
            <a:solidFill>
              <a:srgbClr val="0A6648"/>
            </a:solidFill>
            <a:prstDash val="solid"/>
            <a:headEnd type="arrow"/>
            <a:tailEnd type="arrow"/>
          </a:ln>
        </p:spPr>
        <p:txBody>
          <a:bodyPr/>
          <a:lstStyle/>
          <a:p>
            <a:endParaRPr lang="LID4096"/>
          </a:p>
        </p:txBody>
      </p:sp>
      <p:sp>
        <p:nvSpPr>
          <p:cNvPr id="186" name="Text 184"/>
          <p:cNvSpPr/>
          <p:nvPr/>
        </p:nvSpPr>
        <p:spPr>
          <a:xfrm>
            <a:off x="1463040" y="4745736"/>
            <a:ext cx="1005840" cy="228600"/>
          </a:xfrm>
          <a:prstGeom prst="rect">
            <a:avLst/>
          </a:prstGeom>
          <a:solidFill>
            <a:srgbClr val="F8F6F2"/>
          </a:solidFill>
          <a:ln w="5080">
            <a:solidFill>
              <a:srgbClr val="DDDDDD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444444"/>
                </a:solidFill>
              </a:rPr>
              <a:t>Campaign</a:t>
            </a:r>
            <a:endParaRPr lang="en-US" sz="550" dirty="0"/>
          </a:p>
          <a:p>
            <a:pPr marL="0" indent="0" algn="ctr">
              <a:buNone/>
            </a:pPr>
            <a:r>
              <a:rPr lang="en-US" sz="550" dirty="0">
                <a:solidFill>
                  <a:srgbClr val="444444"/>
                </a:solidFill>
              </a:rPr>
              <a:t>config</a:t>
            </a:r>
            <a:endParaRPr lang="en-US" sz="550" dirty="0"/>
          </a:p>
        </p:txBody>
      </p:sp>
      <p:sp>
        <p:nvSpPr>
          <p:cNvPr id="187" name="Shape 185"/>
          <p:cNvSpPr/>
          <p:nvPr/>
        </p:nvSpPr>
        <p:spPr>
          <a:xfrm>
            <a:off x="3429000" y="4855464"/>
            <a:ext cx="594360" cy="9144"/>
          </a:xfrm>
          <a:prstGeom prst="line">
            <a:avLst/>
          </a:prstGeom>
          <a:noFill/>
          <a:ln w="11430">
            <a:solidFill>
              <a:srgbClr val="0A6648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LID4096"/>
          </a:p>
        </p:txBody>
      </p:sp>
      <p:sp>
        <p:nvSpPr>
          <p:cNvPr id="188" name="Text 186"/>
          <p:cNvSpPr/>
          <p:nvPr/>
        </p:nvSpPr>
        <p:spPr>
          <a:xfrm>
            <a:off x="3223260" y="4745736"/>
            <a:ext cx="1005840" cy="228600"/>
          </a:xfrm>
          <a:prstGeom prst="rect">
            <a:avLst/>
          </a:prstGeom>
          <a:solidFill>
            <a:srgbClr val="F8F6F2"/>
          </a:solidFill>
          <a:ln w="5080">
            <a:solidFill>
              <a:srgbClr val="DDDDDD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444444"/>
                </a:solidFill>
              </a:rPr>
              <a:t>Unlock confirm</a:t>
            </a:r>
            <a:endParaRPr lang="en-US" sz="550" dirty="0"/>
          </a:p>
        </p:txBody>
      </p:sp>
      <p:sp>
        <p:nvSpPr>
          <p:cNvPr id="189" name="Shape 187"/>
          <p:cNvSpPr/>
          <p:nvPr/>
        </p:nvSpPr>
        <p:spPr>
          <a:xfrm>
            <a:off x="7223760" y="4855464"/>
            <a:ext cx="365760" cy="9144"/>
          </a:xfrm>
          <a:prstGeom prst="line">
            <a:avLst/>
          </a:prstGeom>
          <a:noFill/>
          <a:ln w="11430">
            <a:solidFill>
              <a:srgbClr val="0D5E48"/>
            </a:solidFill>
            <a:prstDash val="solid"/>
            <a:headEnd type="arrow"/>
            <a:tailEnd type="arrow"/>
          </a:ln>
        </p:spPr>
        <p:txBody>
          <a:bodyPr/>
          <a:lstStyle/>
          <a:p>
            <a:endParaRPr lang="LID4096"/>
          </a:p>
        </p:txBody>
      </p:sp>
      <p:sp>
        <p:nvSpPr>
          <p:cNvPr id="190" name="Text 188"/>
          <p:cNvSpPr/>
          <p:nvPr/>
        </p:nvSpPr>
        <p:spPr>
          <a:xfrm>
            <a:off x="6903720" y="4745736"/>
            <a:ext cx="1005840" cy="228600"/>
          </a:xfrm>
          <a:prstGeom prst="rect">
            <a:avLst/>
          </a:prstGeom>
          <a:solidFill>
            <a:srgbClr val="F8F6F2"/>
          </a:solidFill>
          <a:ln w="5080">
            <a:solidFill>
              <a:srgbClr val="DDDDDD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444444"/>
                </a:solidFill>
              </a:rPr>
              <a:t>Content status</a:t>
            </a:r>
            <a:endParaRPr lang="en-US" sz="550" dirty="0"/>
          </a:p>
        </p:txBody>
      </p:sp>
      <p:sp>
        <p:nvSpPr>
          <p:cNvPr id="191" name="Shape 189"/>
          <p:cNvSpPr/>
          <p:nvPr/>
        </p:nvSpPr>
        <p:spPr>
          <a:xfrm>
            <a:off x="10972800" y="4855464"/>
            <a:ext cx="365760" cy="9144"/>
          </a:xfrm>
          <a:prstGeom prst="line">
            <a:avLst/>
          </a:prstGeom>
          <a:noFill/>
          <a:ln w="11430">
            <a:solidFill>
              <a:srgbClr val="0A4F40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LID4096"/>
          </a:p>
        </p:txBody>
      </p:sp>
      <p:sp>
        <p:nvSpPr>
          <p:cNvPr id="192" name="Text 190"/>
          <p:cNvSpPr/>
          <p:nvPr/>
        </p:nvSpPr>
        <p:spPr>
          <a:xfrm>
            <a:off x="10652760" y="4745736"/>
            <a:ext cx="1005840" cy="228600"/>
          </a:xfrm>
          <a:prstGeom prst="rect">
            <a:avLst/>
          </a:prstGeom>
          <a:solidFill>
            <a:srgbClr val="F8F6F2"/>
          </a:solidFill>
          <a:ln w="5080">
            <a:solidFill>
              <a:srgbClr val="DDDDDD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444444"/>
                </a:solidFill>
              </a:rPr>
              <a:t>Events</a:t>
            </a:r>
            <a:endParaRPr lang="en-US" sz="550" dirty="0"/>
          </a:p>
        </p:txBody>
      </p:sp>
      <p:sp>
        <p:nvSpPr>
          <p:cNvPr id="193" name="Shape 191"/>
          <p:cNvSpPr/>
          <p:nvPr/>
        </p:nvSpPr>
        <p:spPr>
          <a:xfrm>
            <a:off x="14721840" y="4855464"/>
            <a:ext cx="457200" cy="9144"/>
          </a:xfrm>
          <a:prstGeom prst="line">
            <a:avLst/>
          </a:prstGeom>
          <a:noFill/>
          <a:ln w="11430">
            <a:solidFill>
              <a:srgbClr val="0C5A3C"/>
            </a:solidFill>
            <a:prstDash val="solid"/>
            <a:headEnd type="arrow"/>
            <a:tailEnd type="arrow"/>
          </a:ln>
        </p:spPr>
        <p:txBody>
          <a:bodyPr/>
          <a:lstStyle/>
          <a:p>
            <a:endParaRPr lang="LID4096"/>
          </a:p>
        </p:txBody>
      </p:sp>
      <p:sp>
        <p:nvSpPr>
          <p:cNvPr id="194" name="Text 192"/>
          <p:cNvSpPr/>
          <p:nvPr/>
        </p:nvSpPr>
        <p:spPr>
          <a:xfrm>
            <a:off x="14447520" y="4745736"/>
            <a:ext cx="1005840" cy="228600"/>
          </a:xfrm>
          <a:prstGeom prst="rect">
            <a:avLst/>
          </a:prstGeom>
          <a:solidFill>
            <a:srgbClr val="F8F6F2"/>
          </a:solidFill>
          <a:ln w="5080">
            <a:solidFill>
              <a:srgbClr val="DDDDDD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444444"/>
                </a:solidFill>
              </a:rPr>
              <a:t>Commerce</a:t>
            </a:r>
            <a:endParaRPr lang="en-US" sz="550" dirty="0"/>
          </a:p>
          <a:p>
            <a:pPr marL="0" indent="0" algn="ctr">
              <a:buNone/>
            </a:pPr>
            <a:r>
              <a:rPr lang="en-US" sz="550" dirty="0">
                <a:solidFill>
                  <a:srgbClr val="444444"/>
                </a:solidFill>
              </a:rPr>
              <a:t>events</a:t>
            </a:r>
            <a:endParaRPr lang="en-US" sz="550" dirty="0"/>
          </a:p>
        </p:txBody>
      </p:sp>
      <p:sp>
        <p:nvSpPr>
          <p:cNvPr id="195" name="Shape 193"/>
          <p:cNvSpPr/>
          <p:nvPr/>
        </p:nvSpPr>
        <p:spPr>
          <a:xfrm>
            <a:off x="457200" y="7206386"/>
            <a:ext cx="740664" cy="1004011"/>
          </a:xfrm>
          <a:prstGeom prst="ellipse">
            <a:avLst/>
          </a:prstGeom>
          <a:solidFill>
            <a:srgbClr val="DDD9F8"/>
          </a:solidFill>
          <a:ln w="1270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96" name="Shape 194"/>
          <p:cNvSpPr/>
          <p:nvPr/>
        </p:nvSpPr>
        <p:spPr>
          <a:xfrm>
            <a:off x="1088136" y="7206386"/>
            <a:ext cx="740664" cy="1004011"/>
          </a:xfrm>
          <a:prstGeom prst="ellipse">
            <a:avLst/>
          </a:prstGeom>
          <a:solidFill>
            <a:srgbClr val="DDD9F8"/>
          </a:solidFill>
          <a:ln w="1270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97" name="Shape 195"/>
          <p:cNvSpPr/>
          <p:nvPr/>
        </p:nvSpPr>
        <p:spPr>
          <a:xfrm>
            <a:off x="1143000" y="7317943"/>
            <a:ext cx="0" cy="780898"/>
          </a:xfrm>
          <a:prstGeom prst="line">
            <a:avLst/>
          </a:prstGeom>
          <a:noFill/>
          <a:ln w="889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98" name="Shape 196"/>
          <p:cNvSpPr/>
          <p:nvPr/>
        </p:nvSpPr>
        <p:spPr>
          <a:xfrm>
            <a:off x="704088" y="7485278"/>
            <a:ext cx="219456" cy="133868"/>
          </a:xfrm>
          <a:prstGeom prst="arc">
            <a:avLst/>
          </a:prstGeom>
          <a:solidFill>
            <a:srgbClr val="000000">
              <a:alpha val="0"/>
            </a:srgbClr>
          </a:solidFill>
          <a:ln w="635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99" name="Shape 197"/>
          <p:cNvSpPr/>
          <p:nvPr/>
        </p:nvSpPr>
        <p:spPr>
          <a:xfrm>
            <a:off x="731520" y="7764170"/>
            <a:ext cx="219456" cy="133868"/>
          </a:xfrm>
          <a:prstGeom prst="arc">
            <a:avLst/>
          </a:prstGeom>
          <a:solidFill>
            <a:srgbClr val="000000">
              <a:alpha val="0"/>
            </a:srgbClr>
          </a:solidFill>
          <a:ln w="635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00" name="Shape 198"/>
          <p:cNvSpPr/>
          <p:nvPr/>
        </p:nvSpPr>
        <p:spPr>
          <a:xfrm>
            <a:off x="1307592" y="7485278"/>
            <a:ext cx="219456" cy="133868"/>
          </a:xfrm>
          <a:prstGeom prst="arc">
            <a:avLst/>
          </a:prstGeom>
          <a:solidFill>
            <a:srgbClr val="000000">
              <a:alpha val="0"/>
            </a:srgbClr>
          </a:solidFill>
          <a:ln w="635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01" name="Shape 199"/>
          <p:cNvSpPr/>
          <p:nvPr/>
        </p:nvSpPr>
        <p:spPr>
          <a:xfrm>
            <a:off x="1307592" y="7764170"/>
            <a:ext cx="219456" cy="133868"/>
          </a:xfrm>
          <a:prstGeom prst="arc">
            <a:avLst/>
          </a:prstGeom>
          <a:solidFill>
            <a:srgbClr val="000000">
              <a:alpha val="0"/>
            </a:srgbClr>
          </a:solidFill>
          <a:ln w="635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02" name="Text 200"/>
          <p:cNvSpPr/>
          <p:nvPr/>
        </p:nvSpPr>
        <p:spPr>
          <a:xfrm>
            <a:off x="320040" y="8230388"/>
            <a:ext cx="1554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444444"/>
                </a:solidFill>
              </a:rPr>
              <a:t>AI Onboarding</a:t>
            </a:r>
            <a:endParaRPr lang="en-US" sz="800" dirty="0"/>
          </a:p>
        </p:txBody>
      </p:sp>
      <p:sp>
        <p:nvSpPr>
          <p:cNvPr id="203" name="Text 201"/>
          <p:cNvSpPr/>
          <p:nvPr/>
        </p:nvSpPr>
        <p:spPr>
          <a:xfrm>
            <a:off x="365760" y="8531352"/>
            <a:ext cx="1554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666666"/>
                </a:solidFill>
              </a:rPr>
              <a:t>6-stage state machine</a:t>
            </a:r>
            <a:endParaRPr lang="en-US" sz="65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666666"/>
                </a:solidFill>
              </a:rPr>
              <a:t>Ankit and Claude API integration</a:t>
            </a:r>
            <a:endParaRPr lang="en-US" sz="650" dirty="0"/>
          </a:p>
        </p:txBody>
      </p:sp>
      <p:sp>
        <p:nvSpPr>
          <p:cNvPr id="204" name="Shape 202"/>
          <p:cNvSpPr/>
          <p:nvPr/>
        </p:nvSpPr>
        <p:spPr>
          <a:xfrm>
            <a:off x="2560320" y="7114032"/>
            <a:ext cx="3200400" cy="1170432"/>
          </a:xfrm>
          <a:prstGeom prst="roundRect">
            <a:avLst/>
          </a:prstGeom>
          <a:solidFill>
            <a:srgbClr val="4A42A8"/>
          </a:solidFill>
          <a:ln w="762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05" name="Shape 203"/>
          <p:cNvSpPr/>
          <p:nvPr/>
        </p:nvSpPr>
        <p:spPr>
          <a:xfrm>
            <a:off x="2569464" y="7123176"/>
            <a:ext cx="3182112" cy="274320"/>
          </a:xfrm>
          <a:prstGeom prst="rect">
            <a:avLst/>
          </a:prstGeom>
          <a:solidFill>
            <a:srgbClr val="4A42A8"/>
          </a:solidFill>
          <a:ln w="12700">
            <a:solidFill>
              <a:srgbClr val="4A42A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06" name="Shape 204"/>
          <p:cNvSpPr/>
          <p:nvPr/>
        </p:nvSpPr>
        <p:spPr>
          <a:xfrm>
            <a:off x="2569464" y="7123176"/>
            <a:ext cx="3182112" cy="274320"/>
          </a:xfrm>
          <a:prstGeom prst="roundRect">
            <a:avLst/>
          </a:prstGeom>
          <a:solidFill>
            <a:srgbClr val="4A42A8"/>
          </a:solidFill>
          <a:ln w="12700">
            <a:solidFill>
              <a:srgbClr val="4A42A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07" name="Shape 205"/>
          <p:cNvSpPr/>
          <p:nvPr/>
        </p:nvSpPr>
        <p:spPr>
          <a:xfrm>
            <a:off x="5376672" y="7159752"/>
            <a:ext cx="329184" cy="173736"/>
          </a:xfrm>
          <a:prstGeom prst="roundRect">
            <a:avLst/>
          </a:prstGeom>
          <a:solidFill>
            <a:srgbClr val="4A42A8"/>
          </a:solidFill>
          <a:ln w="12700">
            <a:solidFill>
              <a:srgbClr val="4A42A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08" name="Text 206"/>
          <p:cNvSpPr/>
          <p:nvPr/>
        </p:nvSpPr>
        <p:spPr>
          <a:xfrm>
            <a:off x="5376672" y="7150608"/>
            <a:ext cx="329184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</a:rPr>
              <a:t>P2</a:t>
            </a:r>
            <a:endParaRPr lang="en-US" sz="600" dirty="0"/>
          </a:p>
        </p:txBody>
      </p:sp>
      <p:sp>
        <p:nvSpPr>
          <p:cNvPr id="209" name="Text 207"/>
          <p:cNvSpPr/>
          <p:nvPr/>
        </p:nvSpPr>
        <p:spPr>
          <a:xfrm>
            <a:off x="2633472" y="7150608"/>
            <a:ext cx="27249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FFFFF"/>
                </a:solidFill>
              </a:rPr>
              <a:t>ML Prediction Service</a:t>
            </a:r>
            <a:endParaRPr lang="en-US" sz="850" dirty="0"/>
          </a:p>
        </p:txBody>
      </p:sp>
      <p:sp>
        <p:nvSpPr>
          <p:cNvPr id="210" name="Text 208"/>
          <p:cNvSpPr/>
          <p:nvPr/>
        </p:nvSpPr>
        <p:spPr>
          <a:xfrm>
            <a:off x="2633472" y="7424928"/>
            <a:ext cx="3054096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720" b="1" dirty="0">
                <a:solidFill>
                  <a:schemeClr val="bg1"/>
                </a:solidFill>
              </a:rPr>
              <a:t>Python/FastAPI · Engagement forecast</a:t>
            </a:r>
          </a:p>
          <a:p>
            <a:pPr marL="0" indent="0" algn="l">
              <a:buNone/>
            </a:pPr>
            <a:r>
              <a:rPr lang="en-US" sz="720" b="1" dirty="0">
                <a:solidFill>
                  <a:schemeClr val="bg1"/>
                </a:solidFill>
              </a:rPr>
              <a:t>Churn scoring · Content timing</a:t>
            </a:r>
          </a:p>
        </p:txBody>
      </p:sp>
      <p:sp>
        <p:nvSpPr>
          <p:cNvPr id="211" name="Shape 209"/>
          <p:cNvSpPr/>
          <p:nvPr/>
        </p:nvSpPr>
        <p:spPr>
          <a:xfrm>
            <a:off x="6492240" y="7114032"/>
            <a:ext cx="3657600" cy="1170432"/>
          </a:xfrm>
          <a:prstGeom prst="roundRect">
            <a:avLst/>
          </a:prstGeom>
          <a:solidFill>
            <a:srgbClr val="3A3589"/>
          </a:solidFill>
          <a:ln w="762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12" name="Shape 210"/>
          <p:cNvSpPr/>
          <p:nvPr/>
        </p:nvSpPr>
        <p:spPr>
          <a:xfrm>
            <a:off x="6501384" y="7123176"/>
            <a:ext cx="3639312" cy="274320"/>
          </a:xfrm>
          <a:prstGeom prst="rect">
            <a:avLst/>
          </a:prstGeom>
          <a:solidFill>
            <a:srgbClr val="3A3589"/>
          </a:solidFill>
          <a:ln w="12700">
            <a:solidFill>
              <a:srgbClr val="3A3589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13" name="Shape 211"/>
          <p:cNvSpPr/>
          <p:nvPr/>
        </p:nvSpPr>
        <p:spPr>
          <a:xfrm>
            <a:off x="6501384" y="7123176"/>
            <a:ext cx="3639312" cy="274320"/>
          </a:xfrm>
          <a:prstGeom prst="roundRect">
            <a:avLst/>
          </a:prstGeom>
          <a:solidFill>
            <a:srgbClr val="3A3589"/>
          </a:solidFill>
          <a:ln w="12700">
            <a:solidFill>
              <a:srgbClr val="3A3589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14" name="Shape 212"/>
          <p:cNvSpPr/>
          <p:nvPr/>
        </p:nvSpPr>
        <p:spPr>
          <a:xfrm>
            <a:off x="9765792" y="7159752"/>
            <a:ext cx="329184" cy="173736"/>
          </a:xfrm>
          <a:prstGeom prst="roundRect">
            <a:avLst/>
          </a:prstGeom>
          <a:solidFill>
            <a:srgbClr val="4A42A8"/>
          </a:solidFill>
          <a:ln w="12700">
            <a:solidFill>
              <a:srgbClr val="4A42A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15" name="Text 213"/>
          <p:cNvSpPr/>
          <p:nvPr/>
        </p:nvSpPr>
        <p:spPr>
          <a:xfrm>
            <a:off x="9765792" y="7150608"/>
            <a:ext cx="329184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</a:rPr>
              <a:t>P2</a:t>
            </a:r>
            <a:endParaRPr lang="en-US" sz="600" dirty="0"/>
          </a:p>
        </p:txBody>
      </p:sp>
      <p:sp>
        <p:nvSpPr>
          <p:cNvPr id="216" name="Text 214"/>
          <p:cNvSpPr/>
          <p:nvPr/>
        </p:nvSpPr>
        <p:spPr>
          <a:xfrm>
            <a:off x="6565392" y="7150608"/>
            <a:ext cx="31821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FFFFF"/>
                </a:solidFill>
              </a:rPr>
              <a:t>Advertising Service</a:t>
            </a:r>
            <a:endParaRPr lang="en-US" sz="850" dirty="0"/>
          </a:p>
        </p:txBody>
      </p:sp>
      <p:sp>
        <p:nvSpPr>
          <p:cNvPr id="217" name="Text 215"/>
          <p:cNvSpPr/>
          <p:nvPr/>
        </p:nvSpPr>
        <p:spPr>
          <a:xfrm>
            <a:off x="6565392" y="7424928"/>
            <a:ext cx="3511296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720" b="1" dirty="0">
                <a:solidFill>
                  <a:schemeClr val="bg1"/>
                </a:solidFill>
              </a:rPr>
              <a:t>OpenRTB 2.5+ · DSP integration</a:t>
            </a:r>
          </a:p>
          <a:p>
            <a:pPr marL="0" indent="0" algn="l">
              <a:buNone/>
            </a:pPr>
            <a:r>
              <a:rPr lang="en-US" sz="720" b="1" dirty="0">
                <a:solidFill>
                  <a:schemeClr val="bg1"/>
                </a:solidFill>
              </a:rPr>
              <a:t>Impression tracking · Brand safety</a:t>
            </a:r>
          </a:p>
        </p:txBody>
      </p:sp>
      <p:sp>
        <p:nvSpPr>
          <p:cNvPr id="218" name="Shape 216"/>
          <p:cNvSpPr/>
          <p:nvPr/>
        </p:nvSpPr>
        <p:spPr>
          <a:xfrm>
            <a:off x="11155680" y="7114032"/>
            <a:ext cx="4754880" cy="1170432"/>
          </a:xfrm>
          <a:prstGeom prst="roundRect">
            <a:avLst/>
          </a:prstGeom>
          <a:solidFill>
            <a:srgbClr val="534AB7"/>
          </a:solidFill>
          <a:ln w="762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19" name="Shape 217"/>
          <p:cNvSpPr/>
          <p:nvPr/>
        </p:nvSpPr>
        <p:spPr>
          <a:xfrm>
            <a:off x="11164824" y="7123176"/>
            <a:ext cx="4736592" cy="27432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20" name="Shape 218"/>
          <p:cNvSpPr/>
          <p:nvPr/>
        </p:nvSpPr>
        <p:spPr>
          <a:xfrm>
            <a:off x="11164824" y="7123176"/>
            <a:ext cx="4736592" cy="274320"/>
          </a:xfrm>
          <a:prstGeom prst="round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21" name="Shape 219"/>
          <p:cNvSpPr/>
          <p:nvPr/>
        </p:nvSpPr>
        <p:spPr>
          <a:xfrm>
            <a:off x="15526512" y="7159752"/>
            <a:ext cx="329184" cy="173736"/>
          </a:xfrm>
          <a:prstGeom prst="roundRect">
            <a:avLst/>
          </a:prstGeom>
          <a:solidFill>
            <a:srgbClr val="4A42A8"/>
          </a:solidFill>
          <a:ln w="12700">
            <a:solidFill>
              <a:srgbClr val="4A42A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22" name="Text 220"/>
          <p:cNvSpPr/>
          <p:nvPr/>
        </p:nvSpPr>
        <p:spPr>
          <a:xfrm>
            <a:off x="15526512" y="7150608"/>
            <a:ext cx="329184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</a:rPr>
              <a:t>P2</a:t>
            </a:r>
            <a:endParaRPr lang="en-US" sz="600" dirty="0"/>
          </a:p>
        </p:txBody>
      </p:sp>
      <p:sp>
        <p:nvSpPr>
          <p:cNvPr id="223" name="Text 221"/>
          <p:cNvSpPr/>
          <p:nvPr/>
        </p:nvSpPr>
        <p:spPr>
          <a:xfrm>
            <a:off x="11228832" y="7150608"/>
            <a:ext cx="42793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FFFFF"/>
                </a:solidFill>
              </a:rPr>
              <a:t>ML Training Pipeline</a:t>
            </a:r>
            <a:endParaRPr lang="en-US" sz="850" dirty="0"/>
          </a:p>
        </p:txBody>
      </p:sp>
      <p:sp>
        <p:nvSpPr>
          <p:cNvPr id="224" name="Text 222"/>
          <p:cNvSpPr/>
          <p:nvPr/>
        </p:nvSpPr>
        <p:spPr>
          <a:xfrm>
            <a:off x="11228832" y="7424928"/>
            <a:ext cx="4608576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720" b="1" dirty="0">
                <a:solidFill>
                  <a:schemeClr val="bg1"/>
                </a:solidFill>
              </a:rPr>
              <a:t>Reads scan_events · zone_events</a:t>
            </a:r>
          </a:p>
          <a:p>
            <a:pPr marL="0" indent="0" algn="l">
              <a:buNone/>
            </a:pPr>
            <a:r>
              <a:rPr lang="en-US" sz="720" b="1" dirty="0">
                <a:solidFill>
                  <a:schemeClr val="bg1"/>
                </a:solidFill>
              </a:rPr>
              <a:t>Retrains weekly on 6+ months data</a:t>
            </a:r>
          </a:p>
        </p:txBody>
      </p:sp>
      <p:sp>
        <p:nvSpPr>
          <p:cNvPr id="225" name="Shape 223"/>
          <p:cNvSpPr/>
          <p:nvPr/>
        </p:nvSpPr>
        <p:spPr>
          <a:xfrm>
            <a:off x="17556480" y="7206386"/>
            <a:ext cx="1375258" cy="1041502"/>
          </a:xfrm>
          <a:prstGeom prst="roundRect">
            <a:avLst/>
          </a:prstGeom>
          <a:solidFill>
            <a:srgbClr val="F8DDD4"/>
          </a:solidFill>
          <a:ln w="1270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26" name="Shape 224"/>
          <p:cNvSpPr/>
          <p:nvPr/>
        </p:nvSpPr>
        <p:spPr>
          <a:xfrm>
            <a:off x="17611344" y="7238390"/>
            <a:ext cx="950976" cy="384048"/>
          </a:xfrm>
          <a:prstGeom prst="roundRect">
            <a:avLst/>
          </a:prstGeom>
          <a:solidFill>
            <a:srgbClr val="FFD700"/>
          </a:solidFill>
          <a:ln w="12700">
            <a:solidFill>
              <a:srgbClr val="AA880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27" name="Shape 225"/>
          <p:cNvSpPr/>
          <p:nvPr/>
        </p:nvSpPr>
        <p:spPr>
          <a:xfrm>
            <a:off x="17647920" y="7326173"/>
            <a:ext cx="219456" cy="197510"/>
          </a:xfrm>
          <a:prstGeom prst="rect">
            <a:avLst/>
          </a:prstGeom>
          <a:solidFill>
            <a:srgbClr val="DAA520"/>
          </a:solidFill>
          <a:ln w="3810">
            <a:solidFill>
              <a:srgbClr val="AA880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28" name="Shape 226"/>
          <p:cNvSpPr/>
          <p:nvPr/>
        </p:nvSpPr>
        <p:spPr>
          <a:xfrm>
            <a:off x="18609869" y="7677302"/>
            <a:ext cx="321869" cy="307238"/>
          </a:xfrm>
          <a:prstGeom prst="ellipse">
            <a:avLst/>
          </a:prstGeom>
          <a:solidFill>
            <a:srgbClr val="FFD700"/>
          </a:solidFill>
          <a:ln w="12700">
            <a:solidFill>
              <a:srgbClr val="AA880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29" name="Text 227"/>
          <p:cNvSpPr/>
          <p:nvPr/>
        </p:nvSpPr>
        <p:spPr>
          <a:xfrm>
            <a:off x="18609869" y="7677302"/>
            <a:ext cx="321869" cy="3072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AA8800"/>
                </a:solidFill>
              </a:rPr>
              <a:t>$</a:t>
            </a:r>
            <a:endParaRPr lang="en-US" sz="900" dirty="0"/>
          </a:p>
        </p:txBody>
      </p:sp>
      <p:sp>
        <p:nvSpPr>
          <p:cNvPr id="230" name="Text 228"/>
          <p:cNvSpPr/>
          <p:nvPr/>
        </p:nvSpPr>
        <p:spPr>
          <a:xfrm>
            <a:off x="17465040" y="8302752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444444"/>
                </a:solidFill>
              </a:rPr>
              <a:t>Wallet Service</a:t>
            </a:r>
            <a:endParaRPr lang="en-US" sz="800" dirty="0"/>
          </a:p>
        </p:txBody>
      </p:sp>
      <p:sp>
        <p:nvSpPr>
          <p:cNvPr id="231" name="Text 229"/>
          <p:cNvSpPr/>
          <p:nvPr/>
        </p:nvSpPr>
        <p:spPr>
          <a:xfrm>
            <a:off x="17465040" y="8513064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666666"/>
                </a:solidFill>
              </a:rPr>
              <a:t>PSD2 · SCA · One-tap</a:t>
            </a:r>
            <a:endParaRPr lang="en-US" sz="65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666666"/>
                </a:solidFill>
              </a:rPr>
              <a:t>Tokenised payments</a:t>
            </a:r>
            <a:endParaRPr lang="en-US" sz="650" dirty="0"/>
          </a:p>
        </p:txBody>
      </p:sp>
      <p:sp>
        <p:nvSpPr>
          <p:cNvPr id="232" name="Shape 230"/>
          <p:cNvSpPr/>
          <p:nvPr/>
        </p:nvSpPr>
        <p:spPr>
          <a:xfrm>
            <a:off x="19568160" y="7114032"/>
            <a:ext cx="4114800" cy="1170432"/>
          </a:xfrm>
          <a:prstGeom prst="roundRect">
            <a:avLst/>
          </a:prstGeom>
          <a:solidFill>
            <a:srgbClr val="8B3318"/>
          </a:solidFill>
          <a:ln w="762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33" name="Shape 231"/>
          <p:cNvSpPr/>
          <p:nvPr/>
        </p:nvSpPr>
        <p:spPr>
          <a:xfrm>
            <a:off x="19577304" y="7123176"/>
            <a:ext cx="4096512" cy="274320"/>
          </a:xfrm>
          <a:prstGeom prst="rect">
            <a:avLst/>
          </a:prstGeom>
          <a:solidFill>
            <a:srgbClr val="8B3318"/>
          </a:solidFill>
          <a:ln w="12700">
            <a:solidFill>
              <a:srgbClr val="8B331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34" name="Shape 232"/>
          <p:cNvSpPr/>
          <p:nvPr/>
        </p:nvSpPr>
        <p:spPr>
          <a:xfrm>
            <a:off x="19577304" y="7123176"/>
            <a:ext cx="4096512" cy="274320"/>
          </a:xfrm>
          <a:prstGeom prst="roundRect">
            <a:avLst/>
          </a:prstGeom>
          <a:solidFill>
            <a:srgbClr val="8B3318"/>
          </a:solidFill>
          <a:ln w="12700">
            <a:solidFill>
              <a:srgbClr val="8B331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35" name="Shape 233"/>
          <p:cNvSpPr/>
          <p:nvPr/>
        </p:nvSpPr>
        <p:spPr>
          <a:xfrm>
            <a:off x="23298912" y="7159752"/>
            <a:ext cx="329184" cy="173736"/>
          </a:xfrm>
          <a:prstGeom prst="roundRect">
            <a:avLst/>
          </a:prstGeom>
          <a:solidFill>
            <a:srgbClr val="8B3318"/>
          </a:solidFill>
          <a:ln w="12700">
            <a:solidFill>
              <a:srgbClr val="8B331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36" name="Text 234"/>
          <p:cNvSpPr/>
          <p:nvPr/>
        </p:nvSpPr>
        <p:spPr>
          <a:xfrm>
            <a:off x="23298912" y="7150608"/>
            <a:ext cx="329184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</a:rPr>
              <a:t>P3</a:t>
            </a:r>
            <a:endParaRPr lang="en-US" sz="600" dirty="0"/>
          </a:p>
        </p:txBody>
      </p:sp>
      <p:sp>
        <p:nvSpPr>
          <p:cNvPr id="237" name="Text 235"/>
          <p:cNvSpPr/>
          <p:nvPr/>
        </p:nvSpPr>
        <p:spPr>
          <a:xfrm>
            <a:off x="19641312" y="7150608"/>
            <a:ext cx="36393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FFFFF"/>
                </a:solidFill>
              </a:rPr>
              <a:t>Storefront Service</a:t>
            </a:r>
            <a:endParaRPr lang="en-US" sz="850" dirty="0"/>
          </a:p>
        </p:txBody>
      </p:sp>
      <p:sp>
        <p:nvSpPr>
          <p:cNvPr id="238" name="Text 236"/>
          <p:cNvSpPr/>
          <p:nvPr/>
        </p:nvSpPr>
        <p:spPr>
          <a:xfrm>
            <a:off x="19641312" y="7424928"/>
            <a:ext cx="3968496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720" b="1" dirty="0">
                <a:solidFill>
                  <a:schemeClr val="bg1"/>
                </a:solidFill>
              </a:rPr>
              <a:t>Brand catalogues · Inventory sync</a:t>
            </a:r>
          </a:p>
          <a:p>
            <a:pPr marL="0" indent="0" algn="l">
              <a:buNone/>
            </a:pPr>
            <a:r>
              <a:rPr lang="en-US" sz="720" b="1" dirty="0">
                <a:solidFill>
                  <a:schemeClr val="bg1"/>
                </a:solidFill>
              </a:rPr>
              <a:t>Order management · Recommendations</a:t>
            </a:r>
          </a:p>
        </p:txBody>
      </p:sp>
      <p:sp>
        <p:nvSpPr>
          <p:cNvPr id="239" name="Shape 237"/>
          <p:cNvSpPr/>
          <p:nvPr/>
        </p:nvSpPr>
        <p:spPr>
          <a:xfrm>
            <a:off x="23957280" y="7114032"/>
            <a:ext cx="3108960" cy="1170432"/>
          </a:xfrm>
          <a:prstGeom prst="roundRect">
            <a:avLst/>
          </a:prstGeom>
          <a:solidFill>
            <a:srgbClr val="6A2810"/>
          </a:solidFill>
          <a:ln w="762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40" name="Shape 238"/>
          <p:cNvSpPr/>
          <p:nvPr/>
        </p:nvSpPr>
        <p:spPr>
          <a:xfrm>
            <a:off x="23966424" y="7123176"/>
            <a:ext cx="3090672" cy="274320"/>
          </a:xfrm>
          <a:prstGeom prst="rect">
            <a:avLst/>
          </a:prstGeom>
          <a:solidFill>
            <a:srgbClr val="6A2810"/>
          </a:solidFill>
          <a:ln w="12700">
            <a:solidFill>
              <a:srgbClr val="6A281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41" name="Shape 239"/>
          <p:cNvSpPr/>
          <p:nvPr/>
        </p:nvSpPr>
        <p:spPr>
          <a:xfrm>
            <a:off x="23966424" y="7123176"/>
            <a:ext cx="3090672" cy="274320"/>
          </a:xfrm>
          <a:prstGeom prst="roundRect">
            <a:avLst/>
          </a:prstGeom>
          <a:solidFill>
            <a:srgbClr val="6A2810"/>
          </a:solidFill>
          <a:ln w="12700">
            <a:solidFill>
              <a:srgbClr val="6A281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42" name="Shape 240"/>
          <p:cNvSpPr/>
          <p:nvPr/>
        </p:nvSpPr>
        <p:spPr>
          <a:xfrm>
            <a:off x="26682192" y="7159752"/>
            <a:ext cx="329184" cy="173736"/>
          </a:xfrm>
          <a:prstGeom prst="roundRect">
            <a:avLst/>
          </a:prstGeom>
          <a:solidFill>
            <a:srgbClr val="8B3318"/>
          </a:solidFill>
          <a:ln w="12700">
            <a:solidFill>
              <a:srgbClr val="8B331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43" name="Text 241"/>
          <p:cNvSpPr/>
          <p:nvPr/>
        </p:nvSpPr>
        <p:spPr>
          <a:xfrm>
            <a:off x="26682192" y="7150608"/>
            <a:ext cx="329184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</a:rPr>
              <a:t>P3</a:t>
            </a:r>
            <a:endParaRPr lang="en-US" sz="600" dirty="0"/>
          </a:p>
        </p:txBody>
      </p:sp>
      <p:sp>
        <p:nvSpPr>
          <p:cNvPr id="244" name="Text 242"/>
          <p:cNvSpPr/>
          <p:nvPr/>
        </p:nvSpPr>
        <p:spPr>
          <a:xfrm>
            <a:off x="24030432" y="7150608"/>
            <a:ext cx="26334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FFFFF"/>
                </a:solidFill>
              </a:rPr>
              <a:t>Commerce Analytics</a:t>
            </a:r>
            <a:endParaRPr lang="en-US" sz="850" dirty="0"/>
          </a:p>
        </p:txBody>
      </p:sp>
      <p:sp>
        <p:nvSpPr>
          <p:cNvPr id="245" name="Text 243"/>
          <p:cNvSpPr/>
          <p:nvPr/>
        </p:nvSpPr>
        <p:spPr>
          <a:xfrm>
            <a:off x="24030432" y="7424928"/>
            <a:ext cx="2962656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720" b="1" dirty="0">
                <a:solidFill>
                  <a:schemeClr val="bg1"/>
                </a:solidFill>
              </a:rPr>
              <a:t>GMV · ROAS · Attribution</a:t>
            </a:r>
          </a:p>
          <a:p>
            <a:pPr marL="0" indent="0" algn="l">
              <a:buNone/>
            </a:pPr>
            <a:r>
              <a:rPr lang="en-US" sz="720" b="1" dirty="0">
                <a:solidFill>
                  <a:schemeClr val="bg1"/>
                </a:solidFill>
              </a:rPr>
              <a:t>Commission calculation</a:t>
            </a:r>
          </a:p>
        </p:txBody>
      </p:sp>
      <p:sp>
        <p:nvSpPr>
          <p:cNvPr id="246" name="Shape 244"/>
          <p:cNvSpPr/>
          <p:nvPr/>
        </p:nvSpPr>
        <p:spPr>
          <a:xfrm>
            <a:off x="950976" y="3529584"/>
            <a:ext cx="3520440" cy="722376"/>
          </a:xfrm>
          <a:prstGeom prst="line">
            <a:avLst/>
          </a:prstGeom>
          <a:noFill/>
          <a:ln w="11430">
            <a:solidFill>
              <a:srgbClr val="0D3F6B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LID4096" dirty="0"/>
          </a:p>
        </p:txBody>
      </p:sp>
      <p:sp>
        <p:nvSpPr>
          <p:cNvPr id="247" name="Text 245"/>
          <p:cNvSpPr/>
          <p:nvPr/>
        </p:nvSpPr>
        <p:spPr>
          <a:xfrm>
            <a:off x="2437695" y="3890772"/>
            <a:ext cx="1005840" cy="228600"/>
          </a:xfrm>
          <a:prstGeom prst="rect">
            <a:avLst/>
          </a:prstGeom>
          <a:solidFill>
            <a:srgbClr val="F8F6F2"/>
          </a:solidFill>
          <a:ln w="5080">
            <a:solidFill>
              <a:srgbClr val="DDDDDD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80" dirty="0">
                <a:solidFill>
                  <a:srgbClr val="444444"/>
                </a:solidFill>
              </a:rPr>
              <a:t>/api/auth</a:t>
            </a:r>
            <a:endParaRPr lang="en-US" sz="580" dirty="0"/>
          </a:p>
        </p:txBody>
      </p:sp>
      <p:sp>
        <p:nvSpPr>
          <p:cNvPr id="248" name="Shape 246"/>
          <p:cNvSpPr/>
          <p:nvPr/>
        </p:nvSpPr>
        <p:spPr>
          <a:xfrm>
            <a:off x="2834640" y="3593592"/>
            <a:ext cx="3108960" cy="749808"/>
          </a:xfrm>
          <a:prstGeom prst="line">
            <a:avLst/>
          </a:prstGeom>
          <a:noFill/>
          <a:ln w="11430">
            <a:solidFill>
              <a:srgbClr val="0D3F6B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LID4096"/>
          </a:p>
        </p:txBody>
      </p:sp>
      <p:sp>
        <p:nvSpPr>
          <p:cNvPr id="249" name="Text 247"/>
          <p:cNvSpPr/>
          <p:nvPr/>
        </p:nvSpPr>
        <p:spPr>
          <a:xfrm>
            <a:off x="3886200" y="3858768"/>
            <a:ext cx="1005840" cy="228600"/>
          </a:xfrm>
          <a:prstGeom prst="rect">
            <a:avLst/>
          </a:prstGeom>
          <a:solidFill>
            <a:srgbClr val="F8F6F2"/>
          </a:solidFill>
          <a:ln w="5080">
            <a:solidFill>
              <a:srgbClr val="DDDDDD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80" dirty="0">
                <a:solidFill>
                  <a:srgbClr val="444444"/>
                </a:solidFill>
              </a:rPr>
              <a:t>/api/qr</a:t>
            </a:r>
            <a:endParaRPr lang="en-US" sz="580" dirty="0"/>
          </a:p>
        </p:txBody>
      </p:sp>
      <p:sp>
        <p:nvSpPr>
          <p:cNvPr id="250" name="Shape 248"/>
          <p:cNvSpPr/>
          <p:nvPr/>
        </p:nvSpPr>
        <p:spPr>
          <a:xfrm>
            <a:off x="5623560" y="3593592"/>
            <a:ext cx="1234440" cy="658368"/>
          </a:xfrm>
          <a:prstGeom prst="line">
            <a:avLst/>
          </a:prstGeom>
          <a:noFill/>
          <a:ln w="11430">
            <a:solidFill>
              <a:srgbClr val="0D3F6B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LID4096"/>
          </a:p>
        </p:txBody>
      </p:sp>
      <p:sp>
        <p:nvSpPr>
          <p:cNvPr id="251" name="Text 249"/>
          <p:cNvSpPr/>
          <p:nvPr/>
        </p:nvSpPr>
        <p:spPr>
          <a:xfrm>
            <a:off x="5737860" y="3813048"/>
            <a:ext cx="1005840" cy="228600"/>
          </a:xfrm>
          <a:prstGeom prst="rect">
            <a:avLst/>
          </a:prstGeom>
          <a:solidFill>
            <a:srgbClr val="F8F6F2"/>
          </a:solidFill>
          <a:ln w="5080">
            <a:solidFill>
              <a:srgbClr val="DDDDDD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80" dirty="0">
                <a:solidFill>
                  <a:srgbClr val="444444"/>
                </a:solidFill>
              </a:rPr>
              <a:t>/api/content</a:t>
            </a:r>
            <a:endParaRPr lang="en-US" sz="580" dirty="0"/>
          </a:p>
        </p:txBody>
      </p:sp>
      <p:sp>
        <p:nvSpPr>
          <p:cNvPr id="252" name="Shape 250"/>
          <p:cNvSpPr/>
          <p:nvPr/>
        </p:nvSpPr>
        <p:spPr>
          <a:xfrm>
            <a:off x="7132320" y="3593592"/>
            <a:ext cx="2194560" cy="658368"/>
          </a:xfrm>
          <a:prstGeom prst="line">
            <a:avLst/>
          </a:prstGeom>
          <a:noFill/>
          <a:ln w="11430">
            <a:solidFill>
              <a:srgbClr val="0D3F6B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LID4096"/>
          </a:p>
        </p:txBody>
      </p:sp>
      <p:sp>
        <p:nvSpPr>
          <p:cNvPr id="253" name="Text 251"/>
          <p:cNvSpPr/>
          <p:nvPr/>
        </p:nvSpPr>
        <p:spPr>
          <a:xfrm>
            <a:off x="7726680" y="3813048"/>
            <a:ext cx="1005840" cy="228600"/>
          </a:xfrm>
          <a:prstGeom prst="rect">
            <a:avLst/>
          </a:prstGeom>
          <a:solidFill>
            <a:srgbClr val="F8F6F2"/>
          </a:solidFill>
          <a:ln w="5080">
            <a:solidFill>
              <a:srgbClr val="DDDDDD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80" dirty="0">
                <a:solidFill>
                  <a:srgbClr val="444444"/>
                </a:solidFill>
              </a:rPr>
              <a:t>/api/campaign</a:t>
            </a:r>
            <a:endParaRPr lang="en-US" sz="580" dirty="0"/>
          </a:p>
        </p:txBody>
      </p:sp>
      <p:sp>
        <p:nvSpPr>
          <p:cNvPr id="254" name="Shape 252"/>
          <p:cNvSpPr/>
          <p:nvPr/>
        </p:nvSpPr>
        <p:spPr>
          <a:xfrm>
            <a:off x="7772400" y="3593592"/>
            <a:ext cx="5303520" cy="658368"/>
          </a:xfrm>
          <a:prstGeom prst="line">
            <a:avLst/>
          </a:prstGeom>
          <a:noFill/>
          <a:ln w="11430">
            <a:solidFill>
              <a:srgbClr val="0D3F6B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LID4096"/>
          </a:p>
        </p:txBody>
      </p:sp>
      <p:sp>
        <p:nvSpPr>
          <p:cNvPr id="255" name="Text 253"/>
          <p:cNvSpPr/>
          <p:nvPr/>
        </p:nvSpPr>
        <p:spPr>
          <a:xfrm>
            <a:off x="9921240" y="3813048"/>
            <a:ext cx="1005840" cy="228600"/>
          </a:xfrm>
          <a:prstGeom prst="rect">
            <a:avLst/>
          </a:prstGeom>
          <a:solidFill>
            <a:srgbClr val="F8F6F2"/>
          </a:solidFill>
          <a:ln w="5080">
            <a:solidFill>
              <a:srgbClr val="DDDDDD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80" dirty="0">
                <a:solidFill>
                  <a:srgbClr val="444444"/>
                </a:solidFill>
              </a:rPr>
              <a:t>/api/analytics</a:t>
            </a:r>
            <a:endParaRPr lang="en-US" sz="580" dirty="0"/>
          </a:p>
        </p:txBody>
      </p:sp>
      <p:sp>
        <p:nvSpPr>
          <p:cNvPr id="256" name="Shape 254"/>
          <p:cNvSpPr/>
          <p:nvPr/>
        </p:nvSpPr>
        <p:spPr>
          <a:xfrm>
            <a:off x="8229600" y="3593592"/>
            <a:ext cx="7589520" cy="722376"/>
          </a:xfrm>
          <a:prstGeom prst="line">
            <a:avLst/>
          </a:prstGeom>
          <a:noFill/>
          <a:ln w="11430">
            <a:solidFill>
              <a:srgbClr val="0D3F6B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LID4096"/>
          </a:p>
        </p:txBody>
      </p:sp>
      <p:sp>
        <p:nvSpPr>
          <p:cNvPr id="257" name="Text 255"/>
          <p:cNvSpPr/>
          <p:nvPr/>
        </p:nvSpPr>
        <p:spPr>
          <a:xfrm>
            <a:off x="11521440" y="3845052"/>
            <a:ext cx="1005840" cy="228600"/>
          </a:xfrm>
          <a:prstGeom prst="rect">
            <a:avLst/>
          </a:prstGeom>
          <a:solidFill>
            <a:srgbClr val="F8F6F2"/>
          </a:solidFill>
          <a:ln w="5080">
            <a:solidFill>
              <a:srgbClr val="DDDDDD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80" dirty="0">
                <a:solidFill>
                  <a:srgbClr val="444444"/>
                </a:solidFill>
              </a:rPr>
              <a:t>/api/commerce</a:t>
            </a:r>
            <a:endParaRPr lang="en-US" sz="580" dirty="0"/>
          </a:p>
        </p:txBody>
      </p:sp>
      <p:sp>
        <p:nvSpPr>
          <p:cNvPr id="258" name="Shape 256"/>
          <p:cNvSpPr/>
          <p:nvPr/>
        </p:nvSpPr>
        <p:spPr>
          <a:xfrm>
            <a:off x="182880" y="8823960"/>
            <a:ext cx="27066240" cy="237744"/>
          </a:xfrm>
          <a:prstGeom prst="rect">
            <a:avLst/>
          </a:prstGeom>
          <a:solidFill>
            <a:srgbClr val="2C3E50">
              <a:alpha val="85000"/>
            </a:srgbClr>
          </a:solidFill>
          <a:ln w="12700">
            <a:solidFill>
              <a:srgbClr val="2C3E5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59" name="Text 257"/>
          <p:cNvSpPr/>
          <p:nvPr/>
        </p:nvSpPr>
        <p:spPr>
          <a:xfrm>
            <a:off x="298757" y="8826848"/>
            <a:ext cx="2688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</a:rPr>
              <a:t>LAYER 4 — DATA STORES</a:t>
            </a:r>
            <a:endParaRPr lang="en-US" sz="800" dirty="0"/>
          </a:p>
        </p:txBody>
      </p:sp>
      <p:sp>
        <p:nvSpPr>
          <p:cNvPr id="260" name="Shape 258"/>
          <p:cNvSpPr/>
          <p:nvPr/>
        </p:nvSpPr>
        <p:spPr>
          <a:xfrm>
            <a:off x="182880" y="9308592"/>
            <a:ext cx="27066240" cy="2148840"/>
          </a:xfrm>
          <a:prstGeom prst="roundRect">
            <a:avLst/>
          </a:prstGeom>
          <a:solidFill>
            <a:srgbClr val="EBEBEB">
              <a:alpha val="70000"/>
            </a:srgbClr>
          </a:solidFill>
          <a:ln w="15240">
            <a:solidFill>
              <a:srgbClr val="2C3E50"/>
            </a:solidFill>
            <a:prstDash val="sysDash"/>
          </a:ln>
        </p:spPr>
        <p:txBody>
          <a:bodyPr/>
          <a:lstStyle/>
          <a:p>
            <a:endParaRPr lang="LID4096"/>
          </a:p>
        </p:txBody>
      </p:sp>
      <p:sp>
        <p:nvSpPr>
          <p:cNvPr id="261" name="Text 259"/>
          <p:cNvSpPr/>
          <p:nvPr/>
        </p:nvSpPr>
        <p:spPr>
          <a:xfrm>
            <a:off x="292608" y="9354312"/>
            <a:ext cx="268833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2C3E50"/>
                </a:solidFill>
              </a:rPr>
              <a:t>Data Stores</a:t>
            </a:r>
            <a:endParaRPr lang="en-US" sz="800" dirty="0"/>
          </a:p>
        </p:txBody>
      </p:sp>
      <p:sp>
        <p:nvSpPr>
          <p:cNvPr id="262" name="Shape 260"/>
          <p:cNvSpPr/>
          <p:nvPr/>
        </p:nvSpPr>
        <p:spPr>
          <a:xfrm>
            <a:off x="548640" y="9652406"/>
            <a:ext cx="2194560" cy="1302106"/>
          </a:xfrm>
          <a:prstGeom prst="rect">
            <a:avLst/>
          </a:prstGeom>
          <a:solidFill>
            <a:srgbClr val="0E4A80"/>
          </a:solidFill>
          <a:ln w="762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63" name="Shape 261"/>
          <p:cNvSpPr/>
          <p:nvPr/>
        </p:nvSpPr>
        <p:spPr>
          <a:xfrm>
            <a:off x="548640" y="10761391"/>
            <a:ext cx="2194560" cy="321869"/>
          </a:xfrm>
          <a:prstGeom prst="ellipse">
            <a:avLst/>
          </a:prstGeom>
          <a:solidFill>
            <a:srgbClr val="0E4A80"/>
          </a:solidFill>
          <a:ln w="762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64" name="Shape 262"/>
          <p:cNvSpPr/>
          <p:nvPr/>
        </p:nvSpPr>
        <p:spPr>
          <a:xfrm>
            <a:off x="548640" y="9491472"/>
            <a:ext cx="2194560" cy="321869"/>
          </a:xfrm>
          <a:prstGeom prst="ellipse">
            <a:avLst/>
          </a:prstGeom>
          <a:solidFill>
            <a:srgbClr val="C8DFFA"/>
          </a:solidFill>
          <a:ln w="762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65" name="Shape 263"/>
          <p:cNvSpPr/>
          <p:nvPr/>
        </p:nvSpPr>
        <p:spPr>
          <a:xfrm>
            <a:off x="566928" y="10105949"/>
            <a:ext cx="2157984" cy="160934"/>
          </a:xfrm>
          <a:prstGeom prst="ellipse">
            <a:avLst/>
          </a:prstGeom>
          <a:solidFill>
            <a:srgbClr val="0E4A80">
              <a:alpha val="50000"/>
            </a:srgbClr>
          </a:solidFill>
          <a:ln w="508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66" name="Text 264"/>
          <p:cNvSpPr/>
          <p:nvPr/>
        </p:nvSpPr>
        <p:spPr>
          <a:xfrm>
            <a:off x="502920" y="9901123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PostgreSQL</a:t>
            </a:r>
            <a:endParaRPr lang="en-US" sz="800" dirty="0"/>
          </a:p>
        </p:txBody>
      </p:sp>
      <p:sp>
        <p:nvSpPr>
          <p:cNvPr id="267" name="Text 265"/>
          <p:cNvSpPr/>
          <p:nvPr/>
        </p:nvSpPr>
        <p:spPr>
          <a:xfrm>
            <a:off x="502920" y="10281514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FFFFFF"/>
                </a:solidFill>
              </a:rPr>
              <a:t>AWS RDS Multi-AZ</a:t>
            </a:r>
            <a:endParaRPr lang="en-US" sz="65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FFFFFF"/>
                </a:solidFill>
              </a:rPr>
              <a:t>~25→40 tables · PITR</a:t>
            </a:r>
            <a:endParaRPr lang="en-US" sz="650" dirty="0"/>
          </a:p>
        </p:txBody>
      </p:sp>
      <p:sp>
        <p:nvSpPr>
          <p:cNvPr id="268" name="Shape 266"/>
          <p:cNvSpPr/>
          <p:nvPr/>
        </p:nvSpPr>
        <p:spPr>
          <a:xfrm>
            <a:off x="3657600" y="9491472"/>
            <a:ext cx="1920240" cy="384048"/>
          </a:xfrm>
          <a:prstGeom prst="ellipse">
            <a:avLst/>
          </a:prstGeom>
          <a:solidFill>
            <a:srgbClr val="922B21"/>
          </a:solidFill>
          <a:ln w="635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69" name="Shape 267"/>
          <p:cNvSpPr/>
          <p:nvPr/>
        </p:nvSpPr>
        <p:spPr>
          <a:xfrm>
            <a:off x="3657600" y="9985248"/>
            <a:ext cx="1920240" cy="384048"/>
          </a:xfrm>
          <a:prstGeom prst="ellipse">
            <a:avLst/>
          </a:prstGeom>
          <a:solidFill>
            <a:srgbClr val="B03A2E"/>
          </a:solidFill>
          <a:ln w="635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70" name="Shape 268"/>
          <p:cNvSpPr/>
          <p:nvPr/>
        </p:nvSpPr>
        <p:spPr>
          <a:xfrm>
            <a:off x="3657600" y="10479024"/>
            <a:ext cx="1920240" cy="384048"/>
          </a:xfrm>
          <a:prstGeom prst="ellipse">
            <a:avLst/>
          </a:prstGeom>
          <a:solidFill>
            <a:srgbClr val="CB4335"/>
          </a:solidFill>
          <a:ln w="635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71" name="Text 269"/>
          <p:cNvSpPr/>
          <p:nvPr/>
        </p:nvSpPr>
        <p:spPr>
          <a:xfrm>
            <a:off x="3611880" y="9793224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Redis</a:t>
            </a:r>
            <a:endParaRPr lang="en-US" sz="800" dirty="0"/>
          </a:p>
        </p:txBody>
      </p:sp>
      <p:sp>
        <p:nvSpPr>
          <p:cNvPr id="272" name="Text 270"/>
          <p:cNvSpPr/>
          <p:nvPr/>
        </p:nvSpPr>
        <p:spPr>
          <a:xfrm>
            <a:off x="3611880" y="10177272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FFFFFF"/>
                </a:solidFill>
              </a:rPr>
              <a:t>ElastiCache</a:t>
            </a:r>
            <a:endParaRPr lang="en-US" sz="65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FFFFFF"/>
                </a:solidFill>
              </a:rPr>
              <a:t>Sessions · Cache · Counters</a:t>
            </a:r>
            <a:endParaRPr lang="en-US" sz="650" dirty="0"/>
          </a:p>
        </p:txBody>
      </p:sp>
      <p:sp>
        <p:nvSpPr>
          <p:cNvPr id="273" name="Shape 271"/>
          <p:cNvSpPr/>
          <p:nvPr/>
        </p:nvSpPr>
        <p:spPr>
          <a:xfrm>
            <a:off x="6501384" y="9652406"/>
            <a:ext cx="2103120" cy="1302106"/>
          </a:xfrm>
          <a:prstGeom prst="rect">
            <a:avLst/>
          </a:prstGeom>
          <a:solidFill>
            <a:srgbClr val="1E6B3A"/>
          </a:solidFill>
          <a:ln w="762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74" name="Shape 272"/>
          <p:cNvSpPr/>
          <p:nvPr/>
        </p:nvSpPr>
        <p:spPr>
          <a:xfrm>
            <a:off x="6492240" y="10761391"/>
            <a:ext cx="2103120" cy="321869"/>
          </a:xfrm>
          <a:prstGeom prst="ellipse">
            <a:avLst/>
          </a:prstGeom>
          <a:solidFill>
            <a:srgbClr val="1E6B3A"/>
          </a:solidFill>
          <a:ln w="762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75" name="Shape 273"/>
          <p:cNvSpPr/>
          <p:nvPr/>
        </p:nvSpPr>
        <p:spPr>
          <a:xfrm>
            <a:off x="6492240" y="9491472"/>
            <a:ext cx="2103120" cy="321869"/>
          </a:xfrm>
          <a:prstGeom prst="ellipse">
            <a:avLst/>
          </a:prstGeom>
          <a:solidFill>
            <a:srgbClr val="C8EDD8"/>
          </a:solidFill>
          <a:ln w="762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76" name="Shape 274"/>
          <p:cNvSpPr/>
          <p:nvPr/>
        </p:nvSpPr>
        <p:spPr>
          <a:xfrm>
            <a:off x="6510528" y="10122787"/>
            <a:ext cx="2066544" cy="160934"/>
          </a:xfrm>
          <a:prstGeom prst="ellipse">
            <a:avLst/>
          </a:prstGeom>
          <a:solidFill>
            <a:srgbClr val="1E6B3A">
              <a:alpha val="50000"/>
            </a:srgbClr>
          </a:solidFill>
          <a:ln w="508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77" name="Text 275"/>
          <p:cNvSpPr/>
          <p:nvPr/>
        </p:nvSpPr>
        <p:spPr>
          <a:xfrm>
            <a:off x="6446520" y="9901123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S3</a:t>
            </a:r>
            <a:endParaRPr lang="en-US" sz="800" dirty="0"/>
          </a:p>
        </p:txBody>
      </p:sp>
      <p:sp>
        <p:nvSpPr>
          <p:cNvPr id="278" name="Text 276"/>
          <p:cNvSpPr/>
          <p:nvPr/>
        </p:nvSpPr>
        <p:spPr>
          <a:xfrm>
            <a:off x="6446520" y="10281514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FFFFFF"/>
                </a:solidFill>
              </a:rPr>
              <a:t>Media assets</a:t>
            </a:r>
            <a:endParaRPr lang="en-US" sz="65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FFFFFF"/>
                </a:solidFill>
              </a:rPr>
              <a:t>Versioned · AES-256</a:t>
            </a:r>
            <a:endParaRPr lang="en-US" sz="650" dirty="0"/>
          </a:p>
        </p:txBody>
      </p:sp>
      <p:sp>
        <p:nvSpPr>
          <p:cNvPr id="279" name="Shape 277"/>
          <p:cNvSpPr/>
          <p:nvPr/>
        </p:nvSpPr>
        <p:spPr>
          <a:xfrm>
            <a:off x="9601200" y="9652406"/>
            <a:ext cx="2103120" cy="1302106"/>
          </a:xfrm>
          <a:prstGeom prst="rect">
            <a:avLst/>
          </a:prstGeom>
          <a:solidFill>
            <a:srgbClr val="D44000"/>
          </a:solidFill>
          <a:ln w="762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80" name="Shape 278"/>
          <p:cNvSpPr/>
          <p:nvPr/>
        </p:nvSpPr>
        <p:spPr>
          <a:xfrm>
            <a:off x="9601200" y="10761391"/>
            <a:ext cx="2103120" cy="321869"/>
          </a:xfrm>
          <a:prstGeom prst="ellipse">
            <a:avLst/>
          </a:prstGeom>
          <a:solidFill>
            <a:srgbClr val="D44000"/>
          </a:solidFill>
          <a:ln w="762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81" name="Shape 279"/>
          <p:cNvSpPr/>
          <p:nvPr/>
        </p:nvSpPr>
        <p:spPr>
          <a:xfrm>
            <a:off x="9601200" y="9491472"/>
            <a:ext cx="2103120" cy="321869"/>
          </a:xfrm>
          <a:prstGeom prst="ellipse">
            <a:avLst/>
          </a:prstGeom>
          <a:solidFill>
            <a:srgbClr val="FDEBD0"/>
          </a:solidFill>
          <a:ln w="762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82" name="Shape 280"/>
          <p:cNvSpPr/>
          <p:nvPr/>
        </p:nvSpPr>
        <p:spPr>
          <a:xfrm>
            <a:off x="9619488" y="10105949"/>
            <a:ext cx="2066544" cy="160934"/>
          </a:xfrm>
          <a:prstGeom prst="ellipse">
            <a:avLst/>
          </a:prstGeom>
          <a:solidFill>
            <a:srgbClr val="D44000">
              <a:alpha val="50000"/>
            </a:srgbClr>
          </a:solidFill>
          <a:ln w="508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83" name="Text 281"/>
          <p:cNvSpPr/>
          <p:nvPr/>
        </p:nvSpPr>
        <p:spPr>
          <a:xfrm>
            <a:off x="9555480" y="9901123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PostHog</a:t>
            </a:r>
            <a:endParaRPr lang="en-US" sz="800" dirty="0"/>
          </a:p>
        </p:txBody>
      </p:sp>
      <p:sp>
        <p:nvSpPr>
          <p:cNvPr id="284" name="Text 282"/>
          <p:cNvSpPr/>
          <p:nvPr/>
        </p:nvSpPr>
        <p:spPr>
          <a:xfrm>
            <a:off x="9559138" y="10360152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FFFFFF"/>
                </a:solidFill>
              </a:rPr>
              <a:t>Behavioural events</a:t>
            </a:r>
            <a:endParaRPr lang="en-US" sz="65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FFFFFF"/>
                </a:solidFill>
              </a:rPr>
              <a:t>Funnels · Replay</a:t>
            </a:r>
            <a:endParaRPr lang="en-US" sz="650" dirty="0"/>
          </a:p>
        </p:txBody>
      </p:sp>
      <p:sp>
        <p:nvSpPr>
          <p:cNvPr id="285" name="Shape 283"/>
          <p:cNvSpPr/>
          <p:nvPr/>
        </p:nvSpPr>
        <p:spPr>
          <a:xfrm>
            <a:off x="12710160" y="9652406"/>
            <a:ext cx="2103120" cy="1302106"/>
          </a:xfrm>
          <a:prstGeom prst="rect">
            <a:avLst/>
          </a:prstGeom>
          <a:solidFill>
            <a:srgbClr val="4A235A"/>
          </a:solidFill>
          <a:ln w="762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86" name="Shape 284"/>
          <p:cNvSpPr/>
          <p:nvPr/>
        </p:nvSpPr>
        <p:spPr>
          <a:xfrm>
            <a:off x="12710160" y="10761391"/>
            <a:ext cx="2103120" cy="321869"/>
          </a:xfrm>
          <a:prstGeom prst="ellipse">
            <a:avLst/>
          </a:prstGeom>
          <a:solidFill>
            <a:srgbClr val="4A235A"/>
          </a:solidFill>
          <a:ln w="762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87" name="Shape 285"/>
          <p:cNvSpPr/>
          <p:nvPr/>
        </p:nvSpPr>
        <p:spPr>
          <a:xfrm>
            <a:off x="12710160" y="9491472"/>
            <a:ext cx="2103120" cy="321869"/>
          </a:xfrm>
          <a:prstGeom prst="ellipse">
            <a:avLst/>
          </a:prstGeom>
          <a:solidFill>
            <a:srgbClr val="E8D5F0"/>
          </a:solidFill>
          <a:ln w="762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88" name="Shape 286"/>
          <p:cNvSpPr/>
          <p:nvPr/>
        </p:nvSpPr>
        <p:spPr>
          <a:xfrm>
            <a:off x="12728448" y="10105949"/>
            <a:ext cx="2066544" cy="160934"/>
          </a:xfrm>
          <a:prstGeom prst="ellipse">
            <a:avLst/>
          </a:prstGeom>
          <a:solidFill>
            <a:srgbClr val="4A235A">
              <a:alpha val="50000"/>
            </a:srgbClr>
          </a:solidFill>
          <a:ln w="508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89" name="Text 287"/>
          <p:cNvSpPr/>
          <p:nvPr/>
        </p:nvSpPr>
        <p:spPr>
          <a:xfrm>
            <a:off x="12664440" y="9901123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Sentry</a:t>
            </a:r>
            <a:endParaRPr lang="en-US" sz="800" dirty="0"/>
          </a:p>
        </p:txBody>
      </p:sp>
      <p:sp>
        <p:nvSpPr>
          <p:cNvPr id="290" name="Text 288"/>
          <p:cNvSpPr/>
          <p:nvPr/>
        </p:nvSpPr>
        <p:spPr>
          <a:xfrm>
            <a:off x="12664440" y="10281514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FFFFFF"/>
                </a:solidFill>
              </a:rPr>
              <a:t>Error monitoring</a:t>
            </a:r>
            <a:endParaRPr lang="en-US" sz="65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FFFFFF"/>
                </a:solidFill>
              </a:rPr>
              <a:t>Performance traces</a:t>
            </a:r>
            <a:endParaRPr lang="en-US" sz="650" dirty="0"/>
          </a:p>
        </p:txBody>
      </p:sp>
      <p:sp>
        <p:nvSpPr>
          <p:cNvPr id="291" name="Shape 289"/>
          <p:cNvSpPr/>
          <p:nvPr/>
        </p:nvSpPr>
        <p:spPr>
          <a:xfrm>
            <a:off x="15819120" y="9652406"/>
            <a:ext cx="2194560" cy="1302106"/>
          </a:xfrm>
          <a:prstGeom prst="rect">
            <a:avLst/>
          </a:prstGeom>
          <a:solidFill>
            <a:srgbClr val="B7770D"/>
          </a:solidFill>
          <a:ln w="762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92" name="Shape 290"/>
          <p:cNvSpPr/>
          <p:nvPr/>
        </p:nvSpPr>
        <p:spPr>
          <a:xfrm>
            <a:off x="15819120" y="10761391"/>
            <a:ext cx="2194560" cy="321869"/>
          </a:xfrm>
          <a:prstGeom prst="ellipse">
            <a:avLst/>
          </a:prstGeom>
          <a:solidFill>
            <a:srgbClr val="B7770D"/>
          </a:solidFill>
          <a:ln w="762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93" name="Shape 291"/>
          <p:cNvSpPr/>
          <p:nvPr/>
        </p:nvSpPr>
        <p:spPr>
          <a:xfrm>
            <a:off x="15819120" y="9491472"/>
            <a:ext cx="2194560" cy="321869"/>
          </a:xfrm>
          <a:prstGeom prst="ellipse">
            <a:avLst/>
          </a:prstGeom>
          <a:solidFill>
            <a:srgbClr val="FEF9E7"/>
          </a:solidFill>
          <a:ln w="762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94" name="Shape 292"/>
          <p:cNvSpPr/>
          <p:nvPr/>
        </p:nvSpPr>
        <p:spPr>
          <a:xfrm>
            <a:off x="15837408" y="10105949"/>
            <a:ext cx="2157984" cy="160934"/>
          </a:xfrm>
          <a:prstGeom prst="ellipse">
            <a:avLst/>
          </a:prstGeom>
          <a:solidFill>
            <a:srgbClr val="B7770D">
              <a:alpha val="50000"/>
            </a:srgbClr>
          </a:solidFill>
          <a:ln w="508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95" name="Text 293"/>
          <p:cNvSpPr/>
          <p:nvPr/>
        </p:nvSpPr>
        <p:spPr>
          <a:xfrm>
            <a:off x="15773400" y="9901123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Secrets Manager</a:t>
            </a:r>
            <a:endParaRPr lang="en-US" sz="800" dirty="0"/>
          </a:p>
        </p:txBody>
      </p:sp>
      <p:sp>
        <p:nvSpPr>
          <p:cNvPr id="296" name="Text 294"/>
          <p:cNvSpPr/>
          <p:nvPr/>
        </p:nvSpPr>
        <p:spPr>
          <a:xfrm>
            <a:off x="15773400" y="10281514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FFFFFF"/>
                </a:solidFill>
              </a:rPr>
              <a:t>HMAC key · API keys</a:t>
            </a:r>
            <a:endParaRPr lang="en-US" sz="65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FFFFFF"/>
                </a:solidFill>
              </a:rPr>
              <a:t>JWT · Auto-rotate 90d</a:t>
            </a:r>
            <a:endParaRPr lang="en-US" sz="650" dirty="0"/>
          </a:p>
        </p:txBody>
      </p:sp>
      <p:sp>
        <p:nvSpPr>
          <p:cNvPr id="297" name="Shape 295"/>
          <p:cNvSpPr/>
          <p:nvPr/>
        </p:nvSpPr>
        <p:spPr>
          <a:xfrm>
            <a:off x="19019520" y="9652406"/>
            <a:ext cx="2103120" cy="1302106"/>
          </a:xfrm>
          <a:prstGeom prst="rect">
            <a:avLst/>
          </a:prstGeom>
          <a:solidFill>
            <a:srgbClr val="E74C3C"/>
          </a:solidFill>
          <a:ln w="762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98" name="Shape 296"/>
          <p:cNvSpPr/>
          <p:nvPr/>
        </p:nvSpPr>
        <p:spPr>
          <a:xfrm>
            <a:off x="19019520" y="10761391"/>
            <a:ext cx="2103120" cy="321869"/>
          </a:xfrm>
          <a:prstGeom prst="ellipse">
            <a:avLst/>
          </a:prstGeom>
          <a:solidFill>
            <a:srgbClr val="E74C3C"/>
          </a:solidFill>
          <a:ln w="762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99" name="Shape 297"/>
          <p:cNvSpPr/>
          <p:nvPr/>
        </p:nvSpPr>
        <p:spPr>
          <a:xfrm>
            <a:off x="19019520" y="9491472"/>
            <a:ext cx="2103120" cy="321869"/>
          </a:xfrm>
          <a:prstGeom prst="ellipse">
            <a:avLst/>
          </a:prstGeom>
          <a:solidFill>
            <a:srgbClr val="FADBD8"/>
          </a:solidFill>
          <a:ln w="762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00" name="Shape 298"/>
          <p:cNvSpPr/>
          <p:nvPr/>
        </p:nvSpPr>
        <p:spPr>
          <a:xfrm>
            <a:off x="19037808" y="10105949"/>
            <a:ext cx="2066544" cy="160934"/>
          </a:xfrm>
          <a:prstGeom prst="ellipse">
            <a:avLst/>
          </a:prstGeom>
          <a:solidFill>
            <a:srgbClr val="E74C3C">
              <a:alpha val="50000"/>
            </a:srgbClr>
          </a:solidFill>
          <a:ln w="508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01" name="Text 299"/>
          <p:cNvSpPr/>
          <p:nvPr/>
        </p:nvSpPr>
        <p:spPr>
          <a:xfrm>
            <a:off x="18973800" y="9901123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CloudWatch</a:t>
            </a:r>
            <a:endParaRPr lang="en-US" sz="800" dirty="0"/>
          </a:p>
        </p:txBody>
      </p:sp>
      <p:sp>
        <p:nvSpPr>
          <p:cNvPr id="302" name="Text 300"/>
          <p:cNvSpPr/>
          <p:nvPr/>
        </p:nvSpPr>
        <p:spPr>
          <a:xfrm>
            <a:off x="18973800" y="10281514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FFFFFF"/>
                </a:solidFill>
              </a:rPr>
              <a:t>Centralised logs</a:t>
            </a:r>
            <a:endParaRPr lang="en-US" sz="65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FFFFFF"/>
                </a:solidFill>
              </a:rPr>
              <a:t>5xx alerts · Perf</a:t>
            </a:r>
            <a:endParaRPr lang="en-US" sz="650" dirty="0"/>
          </a:p>
        </p:txBody>
      </p:sp>
      <p:sp>
        <p:nvSpPr>
          <p:cNvPr id="303" name="Shape 301"/>
          <p:cNvSpPr/>
          <p:nvPr/>
        </p:nvSpPr>
        <p:spPr>
          <a:xfrm>
            <a:off x="1070811" y="6962241"/>
            <a:ext cx="320040" cy="2496312"/>
          </a:xfrm>
          <a:prstGeom prst="line">
            <a:avLst/>
          </a:prstGeom>
          <a:noFill/>
          <a:ln w="11430">
            <a:solidFill>
              <a:srgbClr val="444444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LID4096"/>
          </a:p>
        </p:txBody>
      </p:sp>
      <p:sp>
        <p:nvSpPr>
          <p:cNvPr id="304" name="Text 302"/>
          <p:cNvSpPr/>
          <p:nvPr/>
        </p:nvSpPr>
        <p:spPr>
          <a:xfrm>
            <a:off x="587045" y="8036945"/>
            <a:ext cx="1005840" cy="228600"/>
          </a:xfrm>
          <a:prstGeom prst="rect">
            <a:avLst/>
          </a:prstGeom>
          <a:solidFill>
            <a:srgbClr val="F8F6F2"/>
          </a:solidFill>
          <a:ln w="5080">
            <a:solidFill>
              <a:srgbClr val="DDDDDD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444444"/>
                </a:solidFill>
              </a:rPr>
              <a:t>R/W</a:t>
            </a:r>
            <a:endParaRPr lang="en-US" sz="550" dirty="0"/>
          </a:p>
        </p:txBody>
      </p:sp>
      <p:sp>
        <p:nvSpPr>
          <p:cNvPr id="305" name="Shape 303"/>
          <p:cNvSpPr/>
          <p:nvPr/>
        </p:nvSpPr>
        <p:spPr>
          <a:xfrm>
            <a:off x="2834640" y="6995160"/>
            <a:ext cx="1783080" cy="2496312"/>
          </a:xfrm>
          <a:prstGeom prst="line">
            <a:avLst/>
          </a:prstGeom>
          <a:noFill/>
          <a:ln w="11430">
            <a:solidFill>
              <a:srgbClr val="922B21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LID4096"/>
          </a:p>
        </p:txBody>
      </p:sp>
      <p:sp>
        <p:nvSpPr>
          <p:cNvPr id="306" name="Text 304"/>
          <p:cNvSpPr/>
          <p:nvPr/>
        </p:nvSpPr>
        <p:spPr>
          <a:xfrm>
            <a:off x="3223260" y="8133588"/>
            <a:ext cx="1005840" cy="228600"/>
          </a:xfrm>
          <a:prstGeom prst="rect">
            <a:avLst/>
          </a:prstGeom>
          <a:solidFill>
            <a:srgbClr val="F8F6F2"/>
          </a:solidFill>
          <a:ln w="5080">
            <a:solidFill>
              <a:srgbClr val="DDDDDD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444444"/>
                </a:solidFill>
              </a:rPr>
              <a:t>Cache R/W</a:t>
            </a:r>
            <a:endParaRPr lang="en-US" sz="550" dirty="0"/>
          </a:p>
        </p:txBody>
      </p:sp>
      <p:sp>
        <p:nvSpPr>
          <p:cNvPr id="307" name="Shape 305"/>
          <p:cNvSpPr/>
          <p:nvPr/>
        </p:nvSpPr>
        <p:spPr>
          <a:xfrm>
            <a:off x="5623560" y="6995160"/>
            <a:ext cx="1920240" cy="2496312"/>
          </a:xfrm>
          <a:prstGeom prst="line">
            <a:avLst/>
          </a:prstGeom>
          <a:noFill/>
          <a:ln w="11430">
            <a:solidFill>
              <a:srgbClr val="1E6B3A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LID4096"/>
          </a:p>
        </p:txBody>
      </p:sp>
      <p:sp>
        <p:nvSpPr>
          <p:cNvPr id="308" name="Text 306"/>
          <p:cNvSpPr/>
          <p:nvPr/>
        </p:nvSpPr>
        <p:spPr>
          <a:xfrm>
            <a:off x="6080760" y="8133588"/>
            <a:ext cx="1005840" cy="228600"/>
          </a:xfrm>
          <a:prstGeom prst="rect">
            <a:avLst/>
          </a:prstGeom>
          <a:solidFill>
            <a:srgbClr val="F8F6F2"/>
          </a:solidFill>
          <a:ln w="5080">
            <a:solidFill>
              <a:srgbClr val="DDDDDD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444444"/>
                </a:solidFill>
              </a:rPr>
              <a:t>Signed URLs</a:t>
            </a:r>
            <a:endParaRPr lang="en-US" sz="550" dirty="0"/>
          </a:p>
        </p:txBody>
      </p:sp>
      <p:sp>
        <p:nvSpPr>
          <p:cNvPr id="309" name="Shape 307"/>
          <p:cNvSpPr/>
          <p:nvPr/>
        </p:nvSpPr>
        <p:spPr>
          <a:xfrm>
            <a:off x="10652760" y="6995160"/>
            <a:ext cx="2423160" cy="2496312"/>
          </a:xfrm>
          <a:prstGeom prst="line">
            <a:avLst/>
          </a:prstGeom>
          <a:noFill/>
          <a:ln w="11430">
            <a:solidFill>
              <a:srgbClr val="0A6648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LID4096"/>
          </a:p>
        </p:txBody>
      </p:sp>
      <p:sp>
        <p:nvSpPr>
          <p:cNvPr id="310" name="Text 308"/>
          <p:cNvSpPr/>
          <p:nvPr/>
        </p:nvSpPr>
        <p:spPr>
          <a:xfrm>
            <a:off x="11361420" y="8133588"/>
            <a:ext cx="1005840" cy="228600"/>
          </a:xfrm>
          <a:prstGeom prst="rect">
            <a:avLst/>
          </a:prstGeom>
          <a:solidFill>
            <a:srgbClr val="F8F6F2"/>
          </a:solidFill>
          <a:ln w="5080">
            <a:solidFill>
              <a:srgbClr val="DDDDDD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444444"/>
                </a:solidFill>
              </a:rPr>
              <a:t>Events</a:t>
            </a:r>
            <a:endParaRPr lang="en-US" sz="550" dirty="0"/>
          </a:p>
        </p:txBody>
      </p:sp>
      <p:sp>
        <p:nvSpPr>
          <p:cNvPr id="311" name="Shape 309"/>
          <p:cNvSpPr/>
          <p:nvPr/>
        </p:nvSpPr>
        <p:spPr>
          <a:xfrm>
            <a:off x="13075920" y="6995160"/>
            <a:ext cx="685800" cy="2496312"/>
          </a:xfrm>
          <a:prstGeom prst="line">
            <a:avLst/>
          </a:prstGeom>
          <a:noFill/>
          <a:ln w="11430">
            <a:solidFill>
              <a:srgbClr val="4A235A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LID4096"/>
          </a:p>
        </p:txBody>
      </p:sp>
      <p:sp>
        <p:nvSpPr>
          <p:cNvPr id="312" name="Text 310"/>
          <p:cNvSpPr/>
          <p:nvPr/>
        </p:nvSpPr>
        <p:spPr>
          <a:xfrm>
            <a:off x="12915900" y="8133588"/>
            <a:ext cx="1005840" cy="228600"/>
          </a:xfrm>
          <a:prstGeom prst="rect">
            <a:avLst/>
          </a:prstGeom>
          <a:solidFill>
            <a:srgbClr val="F8F6F2"/>
          </a:solidFill>
          <a:ln w="5080">
            <a:solidFill>
              <a:srgbClr val="DDDDDD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444444"/>
                </a:solidFill>
              </a:rPr>
              <a:t>Errors</a:t>
            </a:r>
            <a:endParaRPr lang="en-US" sz="550" dirty="0"/>
          </a:p>
        </p:txBody>
      </p:sp>
      <p:sp>
        <p:nvSpPr>
          <p:cNvPr id="313" name="Shape 311"/>
          <p:cNvSpPr/>
          <p:nvPr/>
        </p:nvSpPr>
        <p:spPr>
          <a:xfrm>
            <a:off x="9326880" y="6995160"/>
            <a:ext cx="7589520" cy="2496312"/>
          </a:xfrm>
          <a:prstGeom prst="line">
            <a:avLst/>
          </a:prstGeom>
          <a:noFill/>
          <a:ln w="11430">
            <a:solidFill>
              <a:srgbClr val="B7770D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LID4096"/>
          </a:p>
        </p:txBody>
      </p:sp>
      <p:sp>
        <p:nvSpPr>
          <p:cNvPr id="314" name="Text 312"/>
          <p:cNvSpPr/>
          <p:nvPr/>
        </p:nvSpPr>
        <p:spPr>
          <a:xfrm>
            <a:off x="12618720" y="8133588"/>
            <a:ext cx="1005840" cy="228600"/>
          </a:xfrm>
          <a:prstGeom prst="rect">
            <a:avLst/>
          </a:prstGeom>
          <a:solidFill>
            <a:srgbClr val="F8F6F2"/>
          </a:solidFill>
          <a:ln w="5080">
            <a:solidFill>
              <a:srgbClr val="DDDDDD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444444"/>
                </a:solidFill>
              </a:rPr>
              <a:t>Secrets</a:t>
            </a:r>
            <a:endParaRPr lang="en-US" sz="550" dirty="0"/>
          </a:p>
        </p:txBody>
      </p:sp>
      <p:sp>
        <p:nvSpPr>
          <p:cNvPr id="315" name="Shape 313"/>
          <p:cNvSpPr/>
          <p:nvPr/>
        </p:nvSpPr>
        <p:spPr>
          <a:xfrm>
            <a:off x="9326880" y="6995160"/>
            <a:ext cx="10744200" cy="2496312"/>
          </a:xfrm>
          <a:prstGeom prst="line">
            <a:avLst/>
          </a:prstGeom>
          <a:noFill/>
          <a:ln w="11430">
            <a:solidFill>
              <a:srgbClr val="E74C3C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LID4096"/>
          </a:p>
        </p:txBody>
      </p:sp>
      <p:sp>
        <p:nvSpPr>
          <p:cNvPr id="316" name="Text 314"/>
          <p:cNvSpPr/>
          <p:nvPr/>
        </p:nvSpPr>
        <p:spPr>
          <a:xfrm>
            <a:off x="14196060" y="8133588"/>
            <a:ext cx="1005840" cy="228600"/>
          </a:xfrm>
          <a:prstGeom prst="rect">
            <a:avLst/>
          </a:prstGeom>
          <a:solidFill>
            <a:srgbClr val="F8F6F2"/>
          </a:solidFill>
          <a:ln w="5080">
            <a:solidFill>
              <a:srgbClr val="DDDDDD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444444"/>
                </a:solidFill>
              </a:rPr>
              <a:t>Logs &amp; Alerts</a:t>
            </a:r>
            <a:endParaRPr lang="en-US" sz="550" dirty="0"/>
          </a:p>
        </p:txBody>
      </p:sp>
      <p:sp>
        <p:nvSpPr>
          <p:cNvPr id="317" name="Shape 315"/>
          <p:cNvSpPr/>
          <p:nvPr/>
        </p:nvSpPr>
        <p:spPr>
          <a:xfrm>
            <a:off x="182880" y="11475720"/>
            <a:ext cx="27066240" cy="237744"/>
          </a:xfrm>
          <a:prstGeom prst="rect">
            <a:avLst/>
          </a:prstGeom>
          <a:solidFill>
            <a:srgbClr val="6B3A0A">
              <a:alpha val="85000"/>
            </a:srgbClr>
          </a:solidFill>
          <a:ln w="12700">
            <a:solidFill>
              <a:srgbClr val="6B3A0A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18" name="Text 316"/>
          <p:cNvSpPr/>
          <p:nvPr/>
        </p:nvSpPr>
        <p:spPr>
          <a:xfrm>
            <a:off x="274320" y="11475720"/>
            <a:ext cx="2688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</a:rPr>
              <a:t>LAYER 5 — EXTERNAL INTEGRATIONS</a:t>
            </a:r>
            <a:endParaRPr lang="en-US" sz="800" dirty="0"/>
          </a:p>
        </p:txBody>
      </p:sp>
      <p:sp>
        <p:nvSpPr>
          <p:cNvPr id="319" name="Shape 317"/>
          <p:cNvSpPr/>
          <p:nvPr/>
        </p:nvSpPr>
        <p:spPr>
          <a:xfrm>
            <a:off x="73273" y="11781590"/>
            <a:ext cx="27207250" cy="1518012"/>
          </a:xfrm>
          <a:prstGeom prst="roundRect">
            <a:avLst/>
          </a:prstGeom>
          <a:solidFill>
            <a:srgbClr val="F5E6CC">
              <a:alpha val="70000"/>
            </a:srgbClr>
          </a:solidFill>
          <a:ln w="15240">
            <a:solidFill>
              <a:srgbClr val="6B3A0A"/>
            </a:solidFill>
            <a:prstDash val="sysDash"/>
          </a:ln>
        </p:spPr>
        <p:txBody>
          <a:bodyPr/>
          <a:lstStyle/>
          <a:p>
            <a:endParaRPr lang="LID4096"/>
          </a:p>
        </p:txBody>
      </p:sp>
      <p:sp>
        <p:nvSpPr>
          <p:cNvPr id="321" name="Shape 319"/>
          <p:cNvSpPr/>
          <p:nvPr/>
        </p:nvSpPr>
        <p:spPr>
          <a:xfrm>
            <a:off x="457200" y="12042648"/>
            <a:ext cx="1280160" cy="713232"/>
          </a:xfrm>
          <a:prstGeom prst="rect">
            <a:avLst/>
          </a:prstGeom>
          <a:solidFill>
            <a:srgbClr val="7D6608"/>
          </a:solidFill>
          <a:ln w="1270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22" name="Shape 320"/>
          <p:cNvSpPr/>
          <p:nvPr/>
        </p:nvSpPr>
        <p:spPr>
          <a:xfrm>
            <a:off x="411480" y="11841480"/>
            <a:ext cx="1371600" cy="256032"/>
          </a:xfrm>
          <a:prstGeom prst="triangle">
            <a:avLst/>
          </a:prstGeom>
          <a:solidFill>
            <a:srgbClr val="777777"/>
          </a:solidFill>
          <a:ln w="1270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23" name="Shape 321"/>
          <p:cNvSpPr/>
          <p:nvPr/>
        </p:nvSpPr>
        <p:spPr>
          <a:xfrm>
            <a:off x="713232" y="12115800"/>
            <a:ext cx="281635" cy="137160"/>
          </a:xfrm>
          <a:prstGeom prst="rect">
            <a:avLst/>
          </a:prstGeom>
          <a:solidFill>
            <a:srgbClr val="ADE8FF"/>
          </a:solidFill>
          <a:ln w="381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24" name="Shape 322"/>
          <p:cNvSpPr/>
          <p:nvPr/>
        </p:nvSpPr>
        <p:spPr>
          <a:xfrm>
            <a:off x="1289304" y="12115800"/>
            <a:ext cx="281635" cy="137160"/>
          </a:xfrm>
          <a:prstGeom prst="rect">
            <a:avLst/>
          </a:prstGeom>
          <a:solidFill>
            <a:srgbClr val="ADE8FF"/>
          </a:solidFill>
          <a:ln w="381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25" name="Shape 323"/>
          <p:cNvSpPr/>
          <p:nvPr/>
        </p:nvSpPr>
        <p:spPr>
          <a:xfrm>
            <a:off x="713232" y="12435840"/>
            <a:ext cx="281635" cy="137160"/>
          </a:xfrm>
          <a:prstGeom prst="rect">
            <a:avLst/>
          </a:prstGeom>
          <a:solidFill>
            <a:srgbClr val="ADE8FF"/>
          </a:solidFill>
          <a:ln w="381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26" name="Shape 324"/>
          <p:cNvSpPr/>
          <p:nvPr/>
        </p:nvSpPr>
        <p:spPr>
          <a:xfrm>
            <a:off x="1289304" y="12435840"/>
            <a:ext cx="281635" cy="137160"/>
          </a:xfrm>
          <a:prstGeom prst="rect">
            <a:avLst/>
          </a:prstGeom>
          <a:solidFill>
            <a:srgbClr val="ADE8FF"/>
          </a:solidFill>
          <a:ln w="381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27" name="Text 325"/>
          <p:cNvSpPr/>
          <p:nvPr/>
        </p:nvSpPr>
        <p:spPr>
          <a:xfrm>
            <a:off x="365760" y="12801600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444444"/>
                </a:solidFill>
              </a:rPr>
              <a:t>Manufacturing</a:t>
            </a:r>
            <a:endParaRPr lang="en-US" sz="800" dirty="0"/>
          </a:p>
        </p:txBody>
      </p:sp>
      <p:sp>
        <p:nvSpPr>
          <p:cNvPr id="328" name="Text 326"/>
          <p:cNvSpPr/>
          <p:nvPr/>
        </p:nvSpPr>
        <p:spPr>
          <a:xfrm>
            <a:off x="365760" y="13011912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666666"/>
                </a:solidFill>
              </a:rPr>
              <a:t>CSV/SFTP</a:t>
            </a:r>
            <a:endParaRPr lang="en-US" sz="65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666666"/>
                </a:solidFill>
              </a:rPr>
              <a:t>Print specs · QR data</a:t>
            </a:r>
            <a:endParaRPr lang="en-US" sz="650" dirty="0"/>
          </a:p>
        </p:txBody>
      </p:sp>
      <p:sp>
        <p:nvSpPr>
          <p:cNvPr id="329" name="Shape 327"/>
          <p:cNvSpPr/>
          <p:nvPr/>
        </p:nvSpPr>
        <p:spPr>
          <a:xfrm>
            <a:off x="2468880" y="11924690"/>
            <a:ext cx="932688" cy="487375"/>
          </a:xfrm>
          <a:prstGeom prst="rect">
            <a:avLst/>
          </a:prstGeom>
          <a:solidFill>
            <a:srgbClr val="5D4037"/>
          </a:solidFill>
          <a:ln w="1270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30" name="Shape 328"/>
          <p:cNvSpPr/>
          <p:nvPr/>
        </p:nvSpPr>
        <p:spPr>
          <a:xfrm>
            <a:off x="3401568" y="11924690"/>
            <a:ext cx="621792" cy="434889"/>
          </a:xfrm>
          <a:prstGeom prst="roundRect">
            <a:avLst/>
          </a:prstGeom>
          <a:solidFill>
            <a:srgbClr val="666666"/>
          </a:solidFill>
          <a:ln w="1270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31" name="Shape 329"/>
          <p:cNvSpPr/>
          <p:nvPr/>
        </p:nvSpPr>
        <p:spPr>
          <a:xfrm>
            <a:off x="3448202" y="11992173"/>
            <a:ext cx="497434" cy="202448"/>
          </a:xfrm>
          <a:prstGeom prst="roundRect">
            <a:avLst/>
          </a:prstGeom>
          <a:solidFill>
            <a:srgbClr val="ADE8FF"/>
          </a:solidFill>
          <a:ln w="5080">
            <a:solidFill>
              <a:srgbClr val="777777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32" name="Shape 330"/>
          <p:cNvSpPr/>
          <p:nvPr/>
        </p:nvSpPr>
        <p:spPr>
          <a:xfrm>
            <a:off x="2515514" y="12397069"/>
            <a:ext cx="279806" cy="164958"/>
          </a:xfrm>
          <a:prstGeom prst="ellipse">
            <a:avLst/>
          </a:prstGeom>
          <a:solidFill>
            <a:srgbClr val="22222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33" name="Shape 331"/>
          <p:cNvSpPr/>
          <p:nvPr/>
        </p:nvSpPr>
        <p:spPr>
          <a:xfrm>
            <a:off x="2585466" y="12434560"/>
            <a:ext cx="139903" cy="89977"/>
          </a:xfrm>
          <a:prstGeom prst="ellipse">
            <a:avLst/>
          </a:prstGeom>
          <a:solidFill>
            <a:srgbClr val="888888"/>
          </a:solidFill>
          <a:ln w="3810">
            <a:solidFill>
              <a:srgbClr val="777777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34" name="Shape 332"/>
          <p:cNvSpPr/>
          <p:nvPr/>
        </p:nvSpPr>
        <p:spPr>
          <a:xfrm>
            <a:off x="2981858" y="12397069"/>
            <a:ext cx="279806" cy="164958"/>
          </a:xfrm>
          <a:prstGeom prst="ellipse">
            <a:avLst/>
          </a:prstGeom>
          <a:solidFill>
            <a:srgbClr val="22222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35" name="Shape 333"/>
          <p:cNvSpPr/>
          <p:nvPr/>
        </p:nvSpPr>
        <p:spPr>
          <a:xfrm>
            <a:off x="3051810" y="12434560"/>
            <a:ext cx="139903" cy="89977"/>
          </a:xfrm>
          <a:prstGeom prst="ellipse">
            <a:avLst/>
          </a:prstGeom>
          <a:solidFill>
            <a:srgbClr val="888888"/>
          </a:solidFill>
          <a:ln w="3810">
            <a:solidFill>
              <a:srgbClr val="777777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36" name="Shape 334"/>
          <p:cNvSpPr/>
          <p:nvPr/>
        </p:nvSpPr>
        <p:spPr>
          <a:xfrm>
            <a:off x="3463747" y="12397069"/>
            <a:ext cx="279806" cy="164958"/>
          </a:xfrm>
          <a:prstGeom prst="ellipse">
            <a:avLst/>
          </a:prstGeom>
          <a:solidFill>
            <a:srgbClr val="22222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37" name="Shape 335"/>
          <p:cNvSpPr/>
          <p:nvPr/>
        </p:nvSpPr>
        <p:spPr>
          <a:xfrm>
            <a:off x="3533699" y="12434560"/>
            <a:ext cx="139903" cy="89977"/>
          </a:xfrm>
          <a:prstGeom prst="ellipse">
            <a:avLst/>
          </a:prstGeom>
          <a:solidFill>
            <a:srgbClr val="888888"/>
          </a:solidFill>
          <a:ln w="3810">
            <a:solidFill>
              <a:srgbClr val="777777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38" name="Text 336"/>
          <p:cNvSpPr/>
          <p:nvPr/>
        </p:nvSpPr>
        <p:spPr>
          <a:xfrm>
            <a:off x="2377440" y="12691872"/>
            <a:ext cx="1737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444444"/>
                </a:solidFill>
              </a:rPr>
              <a:t>3PL Fulfilment</a:t>
            </a:r>
            <a:endParaRPr lang="en-US" sz="800" dirty="0"/>
          </a:p>
        </p:txBody>
      </p:sp>
      <p:sp>
        <p:nvSpPr>
          <p:cNvPr id="339" name="Text 337"/>
          <p:cNvSpPr/>
          <p:nvPr/>
        </p:nvSpPr>
        <p:spPr>
          <a:xfrm>
            <a:off x="2377440" y="12911328"/>
            <a:ext cx="1737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666666"/>
                </a:solidFill>
              </a:rPr>
              <a:t>Posti/DHL</a:t>
            </a:r>
            <a:endParaRPr lang="en-US" sz="65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666666"/>
                </a:solidFill>
              </a:rPr>
              <a:t>Manifests · Tracking</a:t>
            </a:r>
            <a:endParaRPr lang="en-US" sz="650" dirty="0"/>
          </a:p>
        </p:txBody>
      </p:sp>
      <p:sp>
        <p:nvSpPr>
          <p:cNvPr id="340" name="Shape 338"/>
          <p:cNvSpPr/>
          <p:nvPr/>
        </p:nvSpPr>
        <p:spPr>
          <a:xfrm>
            <a:off x="4754880" y="12042648"/>
            <a:ext cx="1280160" cy="713232"/>
          </a:xfrm>
          <a:prstGeom prst="rect">
            <a:avLst/>
          </a:prstGeom>
          <a:solidFill>
            <a:srgbClr val="1A5276"/>
          </a:solidFill>
          <a:ln w="1270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41" name="Shape 339"/>
          <p:cNvSpPr/>
          <p:nvPr/>
        </p:nvSpPr>
        <p:spPr>
          <a:xfrm>
            <a:off x="4709160" y="11841480"/>
            <a:ext cx="1371600" cy="256032"/>
          </a:xfrm>
          <a:prstGeom prst="triangle">
            <a:avLst/>
          </a:prstGeom>
          <a:solidFill>
            <a:srgbClr val="777777"/>
          </a:solidFill>
          <a:ln w="1270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42" name="Shape 340"/>
          <p:cNvSpPr/>
          <p:nvPr/>
        </p:nvSpPr>
        <p:spPr>
          <a:xfrm>
            <a:off x="5010912" y="12115800"/>
            <a:ext cx="281635" cy="137160"/>
          </a:xfrm>
          <a:prstGeom prst="rect">
            <a:avLst/>
          </a:prstGeom>
          <a:solidFill>
            <a:srgbClr val="ADE8FF"/>
          </a:solidFill>
          <a:ln w="381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43" name="Shape 341"/>
          <p:cNvSpPr/>
          <p:nvPr/>
        </p:nvSpPr>
        <p:spPr>
          <a:xfrm>
            <a:off x="5586984" y="12115800"/>
            <a:ext cx="281635" cy="137160"/>
          </a:xfrm>
          <a:prstGeom prst="rect">
            <a:avLst/>
          </a:prstGeom>
          <a:solidFill>
            <a:srgbClr val="ADE8FF"/>
          </a:solidFill>
          <a:ln w="381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44" name="Shape 342"/>
          <p:cNvSpPr/>
          <p:nvPr/>
        </p:nvSpPr>
        <p:spPr>
          <a:xfrm>
            <a:off x="5010912" y="12435840"/>
            <a:ext cx="281635" cy="137160"/>
          </a:xfrm>
          <a:prstGeom prst="rect">
            <a:avLst/>
          </a:prstGeom>
          <a:solidFill>
            <a:srgbClr val="ADE8FF"/>
          </a:solidFill>
          <a:ln w="381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45" name="Shape 343"/>
          <p:cNvSpPr/>
          <p:nvPr/>
        </p:nvSpPr>
        <p:spPr>
          <a:xfrm>
            <a:off x="5586984" y="12435840"/>
            <a:ext cx="281635" cy="137160"/>
          </a:xfrm>
          <a:prstGeom prst="rect">
            <a:avLst/>
          </a:prstGeom>
          <a:solidFill>
            <a:srgbClr val="ADE8FF"/>
          </a:solidFill>
          <a:ln w="381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46" name="Text 344"/>
          <p:cNvSpPr/>
          <p:nvPr/>
        </p:nvSpPr>
        <p:spPr>
          <a:xfrm>
            <a:off x="4663440" y="12801600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444444"/>
                </a:solidFill>
              </a:rPr>
              <a:t>Commerce Partners</a:t>
            </a:r>
            <a:endParaRPr lang="en-US" sz="800" dirty="0"/>
          </a:p>
        </p:txBody>
      </p:sp>
      <p:sp>
        <p:nvSpPr>
          <p:cNvPr id="347" name="Text 345"/>
          <p:cNvSpPr/>
          <p:nvPr/>
        </p:nvSpPr>
        <p:spPr>
          <a:xfrm>
            <a:off x="4663440" y="13011912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666666"/>
                </a:solidFill>
              </a:rPr>
              <a:t>Hotels · Transport</a:t>
            </a:r>
            <a:endParaRPr lang="en-US" sz="65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666666"/>
                </a:solidFill>
              </a:rPr>
              <a:t>Revenue share</a:t>
            </a:r>
            <a:endParaRPr lang="en-US" sz="650" dirty="0"/>
          </a:p>
        </p:txBody>
      </p:sp>
      <p:sp>
        <p:nvSpPr>
          <p:cNvPr id="348" name="Shape 346"/>
          <p:cNvSpPr/>
          <p:nvPr/>
        </p:nvSpPr>
        <p:spPr>
          <a:xfrm>
            <a:off x="6858000" y="11939869"/>
            <a:ext cx="1280160" cy="914400"/>
          </a:xfrm>
          <a:prstGeom prst="roundRect">
            <a:avLst/>
          </a:prstGeom>
          <a:solidFill>
            <a:srgbClr val="F8DDD4"/>
          </a:solidFill>
          <a:ln w="1270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49" name="Shape 347"/>
          <p:cNvSpPr/>
          <p:nvPr/>
        </p:nvSpPr>
        <p:spPr>
          <a:xfrm>
            <a:off x="6912864" y="11914632"/>
            <a:ext cx="832104" cy="320040"/>
          </a:xfrm>
          <a:prstGeom prst="roundRect">
            <a:avLst/>
          </a:prstGeom>
          <a:solidFill>
            <a:srgbClr val="FFD700"/>
          </a:solidFill>
          <a:ln w="12700">
            <a:solidFill>
              <a:srgbClr val="AA880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50" name="Shape 348"/>
          <p:cNvSpPr/>
          <p:nvPr/>
        </p:nvSpPr>
        <p:spPr>
          <a:xfrm>
            <a:off x="6949440" y="11987784"/>
            <a:ext cx="192024" cy="164592"/>
          </a:xfrm>
          <a:prstGeom prst="rect">
            <a:avLst/>
          </a:prstGeom>
          <a:solidFill>
            <a:srgbClr val="DAA520"/>
          </a:solidFill>
          <a:ln w="3810">
            <a:solidFill>
              <a:srgbClr val="AA880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51" name="Shape 349"/>
          <p:cNvSpPr/>
          <p:nvPr/>
        </p:nvSpPr>
        <p:spPr>
          <a:xfrm>
            <a:off x="7779715" y="12280392"/>
            <a:ext cx="281635" cy="256032"/>
          </a:xfrm>
          <a:prstGeom prst="ellipse">
            <a:avLst/>
          </a:prstGeom>
          <a:solidFill>
            <a:srgbClr val="FFD700"/>
          </a:solidFill>
          <a:ln w="12700">
            <a:solidFill>
              <a:srgbClr val="AA880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52" name="Text 350"/>
          <p:cNvSpPr/>
          <p:nvPr/>
        </p:nvSpPr>
        <p:spPr>
          <a:xfrm>
            <a:off x="7779715" y="12280392"/>
            <a:ext cx="28163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AA8800"/>
                </a:solidFill>
              </a:rPr>
              <a:t>$</a:t>
            </a:r>
            <a:endParaRPr lang="en-US" sz="900" dirty="0"/>
          </a:p>
        </p:txBody>
      </p:sp>
      <p:sp>
        <p:nvSpPr>
          <p:cNvPr id="353" name="Text 351"/>
          <p:cNvSpPr/>
          <p:nvPr/>
        </p:nvSpPr>
        <p:spPr>
          <a:xfrm>
            <a:off x="6766560" y="12810744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444444"/>
                </a:solidFill>
              </a:rPr>
              <a:t>Payment Partner (P3)</a:t>
            </a:r>
            <a:endParaRPr lang="en-US" sz="800" dirty="0"/>
          </a:p>
        </p:txBody>
      </p:sp>
      <p:sp>
        <p:nvSpPr>
          <p:cNvPr id="354" name="Text 352"/>
          <p:cNvSpPr/>
          <p:nvPr/>
        </p:nvSpPr>
        <p:spPr>
          <a:xfrm>
            <a:off x="6766560" y="13021056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666666"/>
                </a:solidFill>
              </a:rPr>
              <a:t>Stripe/Adyen</a:t>
            </a:r>
            <a:endParaRPr lang="en-US" sz="65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666666"/>
                </a:solidFill>
              </a:rPr>
              <a:t>PSD2 · Tokenisation</a:t>
            </a:r>
            <a:endParaRPr lang="en-US" sz="650" dirty="0"/>
          </a:p>
        </p:txBody>
      </p:sp>
      <p:sp>
        <p:nvSpPr>
          <p:cNvPr id="355" name="Shape 353"/>
          <p:cNvSpPr/>
          <p:nvPr/>
        </p:nvSpPr>
        <p:spPr>
          <a:xfrm>
            <a:off x="8961120" y="11924690"/>
            <a:ext cx="2286000" cy="1024128"/>
          </a:xfrm>
          <a:prstGeom prst="cloud">
            <a:avLst/>
          </a:prstGeom>
          <a:solidFill>
            <a:srgbClr val="DDD9F8"/>
          </a:solidFill>
          <a:ln w="12700">
            <a:solidFill>
              <a:srgbClr val="8888CC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56" name="Text 354"/>
          <p:cNvSpPr/>
          <p:nvPr/>
        </p:nvSpPr>
        <p:spPr>
          <a:xfrm>
            <a:off x="8961120" y="12033504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DSP Partners (P2)</a:t>
            </a:r>
            <a:endParaRPr lang="en-US" sz="800" dirty="0"/>
          </a:p>
        </p:txBody>
      </p:sp>
      <p:sp>
        <p:nvSpPr>
          <p:cNvPr id="357" name="Text 355"/>
          <p:cNvSpPr/>
          <p:nvPr/>
        </p:nvSpPr>
        <p:spPr>
          <a:xfrm>
            <a:off x="8961120" y="1234074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FFFFFF"/>
                </a:solidFill>
              </a:rPr>
              <a:t>OpenRTB 2.5+</a:t>
            </a:r>
            <a:endParaRPr lang="en-US" sz="65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FFFFFF"/>
                </a:solidFill>
              </a:rPr>
              <a:t>Bid/response</a:t>
            </a:r>
            <a:endParaRPr lang="en-US" sz="650" dirty="0"/>
          </a:p>
        </p:txBody>
      </p:sp>
      <p:sp>
        <p:nvSpPr>
          <p:cNvPr id="358" name="Shape 356"/>
          <p:cNvSpPr/>
          <p:nvPr/>
        </p:nvSpPr>
        <p:spPr>
          <a:xfrm>
            <a:off x="11978640" y="11885005"/>
            <a:ext cx="2560320" cy="1024128"/>
          </a:xfrm>
          <a:prstGeom prst="cloud">
            <a:avLst/>
          </a:prstGeom>
          <a:solidFill>
            <a:srgbClr val="D4A800"/>
          </a:solidFill>
          <a:ln w="12700">
            <a:solidFill>
              <a:srgbClr val="8A700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59" name="Text 357"/>
          <p:cNvSpPr/>
          <p:nvPr/>
        </p:nvSpPr>
        <p:spPr>
          <a:xfrm>
            <a:off x="11978640" y="12033504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Claude API (P2)</a:t>
            </a:r>
            <a:endParaRPr lang="en-US" sz="800" dirty="0"/>
          </a:p>
        </p:txBody>
      </p:sp>
      <p:sp>
        <p:nvSpPr>
          <p:cNvPr id="360" name="Text 358"/>
          <p:cNvSpPr/>
          <p:nvPr/>
        </p:nvSpPr>
        <p:spPr>
          <a:xfrm>
            <a:off x="11978640" y="1234074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FFFFFF"/>
                </a:solidFill>
              </a:rPr>
              <a:t>claude-sonnet</a:t>
            </a:r>
            <a:endParaRPr lang="en-US" sz="65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FFFFFF"/>
                </a:solidFill>
              </a:rPr>
              <a:t>AI onboarding output</a:t>
            </a:r>
            <a:endParaRPr lang="en-US" sz="650" dirty="0"/>
          </a:p>
        </p:txBody>
      </p:sp>
      <p:sp>
        <p:nvSpPr>
          <p:cNvPr id="361" name="Shape 359"/>
          <p:cNvSpPr/>
          <p:nvPr/>
        </p:nvSpPr>
        <p:spPr>
          <a:xfrm>
            <a:off x="818388" y="8790379"/>
            <a:ext cx="8549640" cy="3017520"/>
          </a:xfrm>
          <a:prstGeom prst="line">
            <a:avLst/>
          </a:prstGeom>
          <a:noFill/>
          <a:ln w="11430">
            <a:solidFill>
              <a:srgbClr val="6B3A0A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LID4096"/>
          </a:p>
        </p:txBody>
      </p:sp>
      <p:sp>
        <p:nvSpPr>
          <p:cNvPr id="362" name="Text 360"/>
          <p:cNvSpPr/>
          <p:nvPr/>
        </p:nvSpPr>
        <p:spPr>
          <a:xfrm>
            <a:off x="4549140" y="10222992"/>
            <a:ext cx="1005840" cy="228600"/>
          </a:xfrm>
          <a:prstGeom prst="rect">
            <a:avLst/>
          </a:prstGeom>
          <a:solidFill>
            <a:srgbClr val="F8F6F2"/>
          </a:solidFill>
          <a:ln w="5080">
            <a:solidFill>
              <a:srgbClr val="DDDDDD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444444"/>
                </a:solidFill>
              </a:rPr>
              <a:t>Campaign spec</a:t>
            </a:r>
            <a:endParaRPr lang="en-US" sz="550" dirty="0"/>
          </a:p>
        </p:txBody>
      </p:sp>
      <p:sp>
        <p:nvSpPr>
          <p:cNvPr id="363" name="Shape 361"/>
          <p:cNvSpPr/>
          <p:nvPr/>
        </p:nvSpPr>
        <p:spPr>
          <a:xfrm>
            <a:off x="3246120" y="8823960"/>
            <a:ext cx="6080760" cy="3063240"/>
          </a:xfrm>
          <a:prstGeom prst="line">
            <a:avLst/>
          </a:prstGeom>
          <a:noFill/>
          <a:ln w="11430">
            <a:solidFill>
              <a:srgbClr val="6B3A0A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LID4096"/>
          </a:p>
        </p:txBody>
      </p:sp>
      <p:sp>
        <p:nvSpPr>
          <p:cNvPr id="364" name="Text 362"/>
          <p:cNvSpPr/>
          <p:nvPr/>
        </p:nvSpPr>
        <p:spPr>
          <a:xfrm>
            <a:off x="5783580" y="10245852"/>
            <a:ext cx="1005840" cy="228600"/>
          </a:xfrm>
          <a:prstGeom prst="rect">
            <a:avLst/>
          </a:prstGeom>
          <a:solidFill>
            <a:srgbClr val="F8F6F2"/>
          </a:solidFill>
          <a:ln w="5080">
            <a:solidFill>
              <a:srgbClr val="DDDDDD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444444"/>
                </a:solidFill>
              </a:rPr>
              <a:t>Manifests</a:t>
            </a:r>
            <a:endParaRPr lang="en-US" sz="550" dirty="0"/>
          </a:p>
        </p:txBody>
      </p:sp>
      <p:sp>
        <p:nvSpPr>
          <p:cNvPr id="365" name="Shape 363"/>
          <p:cNvSpPr/>
          <p:nvPr/>
        </p:nvSpPr>
        <p:spPr>
          <a:xfrm>
            <a:off x="5486400" y="8823960"/>
            <a:ext cx="10332720" cy="3017520"/>
          </a:xfrm>
          <a:prstGeom prst="line">
            <a:avLst/>
          </a:prstGeom>
          <a:noFill/>
          <a:ln w="11430">
            <a:solidFill>
              <a:srgbClr val="6B3A0A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LID4096"/>
          </a:p>
        </p:txBody>
      </p:sp>
      <p:sp>
        <p:nvSpPr>
          <p:cNvPr id="366" name="Text 364"/>
          <p:cNvSpPr/>
          <p:nvPr/>
        </p:nvSpPr>
        <p:spPr>
          <a:xfrm>
            <a:off x="10149840" y="10222992"/>
            <a:ext cx="1005840" cy="228600"/>
          </a:xfrm>
          <a:prstGeom prst="rect">
            <a:avLst/>
          </a:prstGeom>
          <a:solidFill>
            <a:srgbClr val="F8F6F2"/>
          </a:solidFill>
          <a:ln w="5080">
            <a:solidFill>
              <a:srgbClr val="DDDDDD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444444"/>
                </a:solidFill>
              </a:rPr>
              <a:t>Commerce tracking</a:t>
            </a:r>
            <a:endParaRPr lang="en-US" sz="550" dirty="0"/>
          </a:p>
        </p:txBody>
      </p:sp>
      <p:sp>
        <p:nvSpPr>
          <p:cNvPr id="367" name="Shape 365"/>
          <p:cNvSpPr/>
          <p:nvPr/>
        </p:nvSpPr>
        <p:spPr>
          <a:xfrm>
            <a:off x="7498080" y="8823960"/>
            <a:ext cx="10972800" cy="3017520"/>
          </a:xfrm>
          <a:prstGeom prst="line">
            <a:avLst/>
          </a:prstGeom>
          <a:noFill/>
          <a:ln w="11430">
            <a:solidFill>
              <a:srgbClr val="8B3318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LID4096"/>
          </a:p>
        </p:txBody>
      </p:sp>
      <p:sp>
        <p:nvSpPr>
          <p:cNvPr id="368" name="Text 366"/>
          <p:cNvSpPr/>
          <p:nvPr/>
        </p:nvSpPr>
        <p:spPr>
          <a:xfrm>
            <a:off x="12481560" y="10222992"/>
            <a:ext cx="1005840" cy="228600"/>
          </a:xfrm>
          <a:prstGeom prst="rect">
            <a:avLst/>
          </a:prstGeom>
          <a:solidFill>
            <a:srgbClr val="F8F6F2"/>
          </a:solidFill>
          <a:ln w="5080">
            <a:solidFill>
              <a:srgbClr val="DDDDDD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444444"/>
                </a:solidFill>
              </a:rPr>
              <a:t>Tx requests (P3)</a:t>
            </a:r>
            <a:endParaRPr lang="en-US" sz="550" dirty="0"/>
          </a:p>
        </p:txBody>
      </p:sp>
      <p:sp>
        <p:nvSpPr>
          <p:cNvPr id="369" name="Shape 367"/>
          <p:cNvSpPr/>
          <p:nvPr/>
        </p:nvSpPr>
        <p:spPr>
          <a:xfrm>
            <a:off x="8321040" y="8823960"/>
            <a:ext cx="1783080" cy="2953512"/>
          </a:xfrm>
          <a:prstGeom prst="line">
            <a:avLst/>
          </a:prstGeom>
          <a:noFill/>
          <a:ln w="11430">
            <a:solidFill>
              <a:srgbClr val="4A42A8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LID4096"/>
          </a:p>
        </p:txBody>
      </p:sp>
      <p:sp>
        <p:nvSpPr>
          <p:cNvPr id="370" name="Text 368"/>
          <p:cNvSpPr/>
          <p:nvPr/>
        </p:nvSpPr>
        <p:spPr>
          <a:xfrm>
            <a:off x="8709660" y="10190988"/>
            <a:ext cx="1005840" cy="228600"/>
          </a:xfrm>
          <a:prstGeom prst="rect">
            <a:avLst/>
          </a:prstGeom>
          <a:solidFill>
            <a:srgbClr val="F8F6F2"/>
          </a:solidFill>
          <a:ln w="5080">
            <a:solidFill>
              <a:srgbClr val="DDDDDD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444444"/>
                </a:solidFill>
              </a:rPr>
              <a:t>Bid requests (P2)</a:t>
            </a:r>
            <a:endParaRPr lang="en-US" sz="550" dirty="0"/>
          </a:p>
        </p:txBody>
      </p:sp>
      <p:sp>
        <p:nvSpPr>
          <p:cNvPr id="371" name="Shape 369"/>
          <p:cNvSpPr/>
          <p:nvPr/>
        </p:nvSpPr>
        <p:spPr>
          <a:xfrm>
            <a:off x="1624637" y="8823960"/>
            <a:ext cx="12115800" cy="2953512"/>
          </a:xfrm>
          <a:prstGeom prst="line">
            <a:avLst/>
          </a:prstGeom>
          <a:noFill/>
          <a:ln w="11430">
            <a:solidFill>
              <a:srgbClr val="4A42A8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LID4096"/>
          </a:p>
        </p:txBody>
      </p:sp>
      <p:sp>
        <p:nvSpPr>
          <p:cNvPr id="372" name="Text 370"/>
          <p:cNvSpPr/>
          <p:nvPr/>
        </p:nvSpPr>
        <p:spPr>
          <a:xfrm>
            <a:off x="6697980" y="10190988"/>
            <a:ext cx="1005840" cy="228600"/>
          </a:xfrm>
          <a:prstGeom prst="rect">
            <a:avLst/>
          </a:prstGeom>
          <a:solidFill>
            <a:srgbClr val="F8F6F2"/>
          </a:solidFill>
          <a:ln w="5080">
            <a:solidFill>
              <a:srgbClr val="DDDDDD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444444"/>
                </a:solidFill>
              </a:rPr>
              <a:t>Conversation (P2)</a:t>
            </a:r>
            <a:endParaRPr lang="en-US" sz="550" dirty="0"/>
          </a:p>
        </p:txBody>
      </p:sp>
      <p:sp>
        <p:nvSpPr>
          <p:cNvPr id="373" name="Shape 371"/>
          <p:cNvSpPr/>
          <p:nvPr/>
        </p:nvSpPr>
        <p:spPr>
          <a:xfrm>
            <a:off x="70089" y="13516410"/>
            <a:ext cx="27066240" cy="237744"/>
          </a:xfrm>
          <a:prstGeom prst="rect">
            <a:avLst/>
          </a:prstGeom>
          <a:solidFill>
            <a:srgbClr val="4A1060">
              <a:alpha val="85000"/>
            </a:srgbClr>
          </a:solidFill>
          <a:ln w="12700">
            <a:solidFill>
              <a:srgbClr val="4A106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74" name="Text 372"/>
          <p:cNvSpPr/>
          <p:nvPr/>
        </p:nvSpPr>
        <p:spPr>
          <a:xfrm>
            <a:off x="274320" y="13516410"/>
            <a:ext cx="2688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</a:rPr>
              <a:t>LAYER 6 — DEVOPS &amp; INFRASTRUCTURE the technology need to be validated  (AWS) or (Micro) </a:t>
            </a:r>
            <a:endParaRPr lang="en-US" sz="800" dirty="0"/>
          </a:p>
        </p:txBody>
      </p:sp>
      <p:sp>
        <p:nvSpPr>
          <p:cNvPr id="375" name="Shape 373"/>
          <p:cNvSpPr/>
          <p:nvPr/>
        </p:nvSpPr>
        <p:spPr>
          <a:xfrm>
            <a:off x="70089" y="14026896"/>
            <a:ext cx="27066240" cy="1737360"/>
          </a:xfrm>
          <a:prstGeom prst="roundRect">
            <a:avLst/>
          </a:prstGeom>
          <a:solidFill>
            <a:srgbClr val="E8D8F8">
              <a:alpha val="70000"/>
            </a:srgbClr>
          </a:solidFill>
          <a:ln w="15240">
            <a:solidFill>
              <a:srgbClr val="4A1060"/>
            </a:solidFill>
            <a:prstDash val="sysDash"/>
          </a:ln>
        </p:spPr>
        <p:txBody>
          <a:bodyPr/>
          <a:lstStyle/>
          <a:p>
            <a:endParaRPr lang="LID4096"/>
          </a:p>
        </p:txBody>
      </p:sp>
      <p:sp>
        <p:nvSpPr>
          <p:cNvPr id="377" name="Shape 375"/>
          <p:cNvSpPr/>
          <p:nvPr/>
        </p:nvSpPr>
        <p:spPr>
          <a:xfrm>
            <a:off x="365760" y="14392656"/>
            <a:ext cx="3474720" cy="1060704"/>
          </a:xfrm>
          <a:prstGeom prst="roundRect">
            <a:avLst/>
          </a:prstGeom>
          <a:solidFill>
            <a:srgbClr val="4A1060"/>
          </a:solidFill>
          <a:ln w="762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78" name="Shape 376"/>
          <p:cNvSpPr/>
          <p:nvPr/>
        </p:nvSpPr>
        <p:spPr>
          <a:xfrm>
            <a:off x="374904" y="14090904"/>
            <a:ext cx="3456432" cy="274320"/>
          </a:xfrm>
          <a:prstGeom prst="rect">
            <a:avLst/>
          </a:prstGeom>
          <a:solidFill>
            <a:srgbClr val="4A1060"/>
          </a:solidFill>
          <a:ln w="12700">
            <a:solidFill>
              <a:srgbClr val="4A106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80" name="Text 378"/>
          <p:cNvSpPr/>
          <p:nvPr/>
        </p:nvSpPr>
        <p:spPr>
          <a:xfrm>
            <a:off x="438912" y="14118336"/>
            <a:ext cx="332841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FFFFF"/>
                </a:solidFill>
              </a:rPr>
              <a:t>AWS ECS Fargate</a:t>
            </a:r>
            <a:endParaRPr lang="en-US" sz="850" dirty="0"/>
          </a:p>
        </p:txBody>
      </p:sp>
      <p:sp>
        <p:nvSpPr>
          <p:cNvPr id="381" name="Text 379"/>
          <p:cNvSpPr/>
          <p:nvPr/>
        </p:nvSpPr>
        <p:spPr>
          <a:xfrm>
            <a:off x="431207" y="14538960"/>
            <a:ext cx="3328416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720" dirty="0">
                <a:solidFill>
                  <a:schemeClr val="bg1"/>
                </a:solidFill>
              </a:rPr>
              <a:t>Serverless containers · Auto-scale · Multi-AZ</a:t>
            </a:r>
          </a:p>
          <a:p>
            <a:pPr marL="0" indent="0" algn="l">
              <a:buNone/>
            </a:pPr>
            <a:r>
              <a:rPr lang="en-US" sz="720" dirty="0">
                <a:solidFill>
                  <a:schemeClr val="bg1"/>
                </a:solidFill>
              </a:rPr>
              <a:t>Hosts all Layer 3 microservices</a:t>
            </a:r>
          </a:p>
        </p:txBody>
      </p:sp>
      <p:sp>
        <p:nvSpPr>
          <p:cNvPr id="382" name="Shape 380"/>
          <p:cNvSpPr/>
          <p:nvPr/>
        </p:nvSpPr>
        <p:spPr>
          <a:xfrm>
            <a:off x="4215384" y="14438376"/>
            <a:ext cx="3291840" cy="1005840"/>
          </a:xfrm>
          <a:prstGeom prst="roundRect">
            <a:avLst/>
          </a:prstGeom>
          <a:solidFill>
            <a:srgbClr val="222222"/>
          </a:solidFill>
          <a:ln w="762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83" name="Shape 381"/>
          <p:cNvSpPr/>
          <p:nvPr/>
        </p:nvSpPr>
        <p:spPr>
          <a:xfrm>
            <a:off x="4224528" y="14126376"/>
            <a:ext cx="3273552" cy="274320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85" name="Text 383"/>
          <p:cNvSpPr/>
          <p:nvPr/>
        </p:nvSpPr>
        <p:spPr>
          <a:xfrm>
            <a:off x="4295851" y="14094200"/>
            <a:ext cx="31455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FFFFF"/>
                </a:solidFill>
              </a:rPr>
              <a:t>GitHub Actions</a:t>
            </a:r>
            <a:endParaRPr lang="en-US" sz="850" dirty="0"/>
          </a:p>
        </p:txBody>
      </p:sp>
      <p:sp>
        <p:nvSpPr>
          <p:cNvPr id="386" name="Text 384"/>
          <p:cNvSpPr/>
          <p:nvPr/>
        </p:nvSpPr>
        <p:spPr>
          <a:xfrm>
            <a:off x="4297680" y="14584680"/>
            <a:ext cx="3145536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720" b="1" dirty="0">
                <a:solidFill>
                  <a:schemeClr val="bg1"/>
                </a:solidFill>
              </a:rPr>
              <a:t>CI/CD: lint → test → Docker build</a:t>
            </a:r>
          </a:p>
          <a:p>
            <a:pPr marL="0" indent="0" algn="l">
              <a:buNone/>
            </a:pPr>
            <a:r>
              <a:rPr lang="en-US" sz="720" b="1" dirty="0">
                <a:solidFill>
                  <a:schemeClr val="bg1"/>
                </a:solidFill>
              </a:rPr>
              <a:t>→ ECR push → ECS deploy</a:t>
            </a:r>
          </a:p>
        </p:txBody>
      </p:sp>
      <p:sp>
        <p:nvSpPr>
          <p:cNvPr id="387" name="Shape 385"/>
          <p:cNvSpPr/>
          <p:nvPr/>
        </p:nvSpPr>
        <p:spPr>
          <a:xfrm>
            <a:off x="7848987" y="14456664"/>
            <a:ext cx="3108960" cy="996696"/>
          </a:xfrm>
          <a:prstGeom prst="roundRect">
            <a:avLst/>
          </a:prstGeom>
          <a:solidFill>
            <a:srgbClr val="2496ED"/>
          </a:solidFill>
          <a:ln w="762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88" name="Shape 386"/>
          <p:cNvSpPr/>
          <p:nvPr/>
        </p:nvSpPr>
        <p:spPr>
          <a:xfrm>
            <a:off x="7872984" y="14090904"/>
            <a:ext cx="3090672" cy="274320"/>
          </a:xfrm>
          <a:prstGeom prst="rect">
            <a:avLst/>
          </a:prstGeom>
          <a:solidFill>
            <a:srgbClr val="2496ED"/>
          </a:solidFill>
          <a:ln w="12700">
            <a:solidFill>
              <a:srgbClr val="2496ED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89" name="Shape 387"/>
          <p:cNvSpPr/>
          <p:nvPr/>
        </p:nvSpPr>
        <p:spPr>
          <a:xfrm>
            <a:off x="7882128" y="14080414"/>
            <a:ext cx="3090672" cy="274320"/>
          </a:xfrm>
          <a:prstGeom prst="roundRect">
            <a:avLst/>
          </a:prstGeom>
          <a:solidFill>
            <a:srgbClr val="2496ED"/>
          </a:solidFill>
          <a:ln w="12700">
            <a:solidFill>
              <a:srgbClr val="2496ED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90" name="Text 388"/>
          <p:cNvSpPr/>
          <p:nvPr/>
        </p:nvSpPr>
        <p:spPr>
          <a:xfrm>
            <a:off x="7936992" y="14118336"/>
            <a:ext cx="29626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FFFFF"/>
                </a:solidFill>
              </a:rPr>
              <a:t>Docker</a:t>
            </a:r>
            <a:endParaRPr lang="en-US" sz="850" dirty="0"/>
          </a:p>
        </p:txBody>
      </p:sp>
      <p:sp>
        <p:nvSpPr>
          <p:cNvPr id="391" name="Text 389"/>
          <p:cNvSpPr/>
          <p:nvPr/>
        </p:nvSpPr>
        <p:spPr>
          <a:xfrm>
            <a:off x="7936992" y="14648688"/>
            <a:ext cx="2962656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720" b="1" dirty="0">
                <a:solidFill>
                  <a:schemeClr val="bg1"/>
                </a:solidFill>
              </a:rPr>
              <a:t>Multi-stage builds · Alpine Node.js</a:t>
            </a:r>
          </a:p>
          <a:p>
            <a:pPr marL="0" indent="0" algn="l">
              <a:buNone/>
            </a:pPr>
            <a:r>
              <a:rPr lang="en-US" sz="720" b="1" dirty="0">
                <a:solidFill>
                  <a:schemeClr val="bg1"/>
                </a:solidFill>
              </a:rPr>
              <a:t>Environment parity dev→staging→prod</a:t>
            </a:r>
          </a:p>
        </p:txBody>
      </p:sp>
      <p:sp>
        <p:nvSpPr>
          <p:cNvPr id="392" name="Shape 390"/>
          <p:cNvSpPr/>
          <p:nvPr/>
        </p:nvSpPr>
        <p:spPr>
          <a:xfrm>
            <a:off x="11327861" y="14447520"/>
            <a:ext cx="3657600" cy="1014984"/>
          </a:xfrm>
          <a:prstGeom prst="roundRect">
            <a:avLst/>
          </a:prstGeom>
          <a:solidFill>
            <a:srgbClr val="7B42BC"/>
          </a:solidFill>
          <a:ln w="762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93" name="Shape 391"/>
          <p:cNvSpPr/>
          <p:nvPr/>
        </p:nvSpPr>
        <p:spPr>
          <a:xfrm>
            <a:off x="11347704" y="14118336"/>
            <a:ext cx="3639312" cy="274320"/>
          </a:xfrm>
          <a:prstGeom prst="rect">
            <a:avLst/>
          </a:prstGeom>
          <a:solidFill>
            <a:srgbClr val="7B42BC"/>
          </a:solidFill>
          <a:ln w="12700">
            <a:solidFill>
              <a:srgbClr val="7B42BC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95" name="Text 393"/>
          <p:cNvSpPr/>
          <p:nvPr/>
        </p:nvSpPr>
        <p:spPr>
          <a:xfrm>
            <a:off x="11411712" y="14118336"/>
            <a:ext cx="351129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FFFFF"/>
                </a:solidFill>
              </a:rPr>
              <a:t>Terraform / IaC</a:t>
            </a:r>
            <a:endParaRPr lang="en-US" sz="850" dirty="0"/>
          </a:p>
        </p:txBody>
      </p:sp>
      <p:sp>
        <p:nvSpPr>
          <p:cNvPr id="396" name="Text 394"/>
          <p:cNvSpPr/>
          <p:nvPr/>
        </p:nvSpPr>
        <p:spPr>
          <a:xfrm>
            <a:off x="11550218" y="14699142"/>
            <a:ext cx="3511296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720" b="1" dirty="0">
                <a:solidFill>
                  <a:schemeClr val="bg1"/>
                </a:solidFill>
              </a:rPr>
              <a:t>All AWS resources as code · git-versioned</a:t>
            </a:r>
          </a:p>
          <a:p>
            <a:pPr marL="0" indent="0" algn="l">
              <a:buNone/>
            </a:pPr>
            <a:r>
              <a:rPr lang="en-US" sz="720" b="1" dirty="0">
                <a:solidFill>
                  <a:schemeClr val="bg1"/>
                </a:solidFill>
              </a:rPr>
              <a:t>One-command environment cloning</a:t>
            </a:r>
          </a:p>
        </p:txBody>
      </p:sp>
      <p:sp>
        <p:nvSpPr>
          <p:cNvPr id="397" name="Shape 395"/>
          <p:cNvSpPr/>
          <p:nvPr/>
        </p:nvSpPr>
        <p:spPr>
          <a:xfrm>
            <a:off x="15370182" y="14438376"/>
            <a:ext cx="3840480" cy="1033736"/>
          </a:xfrm>
          <a:prstGeom prst="roundRect">
            <a:avLst/>
          </a:prstGeom>
          <a:solidFill>
            <a:srgbClr val="B7770D"/>
          </a:solidFill>
          <a:ln w="762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98" name="Shape 396"/>
          <p:cNvSpPr/>
          <p:nvPr/>
        </p:nvSpPr>
        <p:spPr>
          <a:xfrm>
            <a:off x="15371064" y="14090904"/>
            <a:ext cx="3822192" cy="274320"/>
          </a:xfrm>
          <a:prstGeom prst="rect">
            <a:avLst/>
          </a:prstGeom>
          <a:solidFill>
            <a:srgbClr val="B7770D"/>
          </a:solidFill>
          <a:ln w="12700">
            <a:solidFill>
              <a:srgbClr val="B7770D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00" name="Text 398"/>
          <p:cNvSpPr/>
          <p:nvPr/>
        </p:nvSpPr>
        <p:spPr>
          <a:xfrm>
            <a:off x="15435072" y="14118336"/>
            <a:ext cx="369417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FFFFF"/>
                </a:solidFill>
              </a:rPr>
              <a:t>AWS Secrets Manager</a:t>
            </a:r>
            <a:endParaRPr lang="en-US" sz="850" dirty="0"/>
          </a:p>
        </p:txBody>
      </p:sp>
      <p:sp>
        <p:nvSpPr>
          <p:cNvPr id="401" name="Text 399"/>
          <p:cNvSpPr/>
          <p:nvPr/>
        </p:nvSpPr>
        <p:spPr>
          <a:xfrm>
            <a:off x="15416784" y="14648688"/>
            <a:ext cx="3694176" cy="55337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720" dirty="0">
                <a:solidFill>
                  <a:schemeClr val="bg1"/>
                </a:solidFill>
              </a:rPr>
              <a:t>HMAC key · DB credentials · API keys</a:t>
            </a:r>
          </a:p>
          <a:p>
            <a:pPr marL="0" indent="0" algn="l">
              <a:buNone/>
            </a:pPr>
            <a:r>
              <a:rPr lang="en-US" sz="720" dirty="0">
                <a:solidFill>
                  <a:schemeClr val="bg1"/>
                </a:solidFill>
              </a:rPr>
              <a:t>JWT signing key · 90-day auto-rotate</a:t>
            </a:r>
          </a:p>
        </p:txBody>
      </p:sp>
      <p:sp>
        <p:nvSpPr>
          <p:cNvPr id="402" name="Shape 400"/>
          <p:cNvSpPr/>
          <p:nvPr/>
        </p:nvSpPr>
        <p:spPr>
          <a:xfrm>
            <a:off x="19568160" y="14466273"/>
            <a:ext cx="3840480" cy="1005839"/>
          </a:xfrm>
          <a:prstGeom prst="roundRect">
            <a:avLst/>
          </a:prstGeom>
          <a:solidFill>
            <a:srgbClr val="C0392B"/>
          </a:solidFill>
          <a:ln w="762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03" name="Shape 401"/>
          <p:cNvSpPr/>
          <p:nvPr/>
        </p:nvSpPr>
        <p:spPr>
          <a:xfrm>
            <a:off x="19586448" y="14118336"/>
            <a:ext cx="3822192" cy="2743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05" name="Text 403"/>
          <p:cNvSpPr/>
          <p:nvPr/>
        </p:nvSpPr>
        <p:spPr>
          <a:xfrm>
            <a:off x="19641312" y="14164056"/>
            <a:ext cx="369417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FFFFF"/>
                </a:solidFill>
              </a:rPr>
              <a:t>AWS CloudWatch</a:t>
            </a:r>
            <a:endParaRPr lang="en-US" sz="850" dirty="0"/>
          </a:p>
        </p:txBody>
      </p:sp>
      <p:sp>
        <p:nvSpPr>
          <p:cNvPr id="406" name="Text 404"/>
          <p:cNvSpPr/>
          <p:nvPr/>
        </p:nvSpPr>
        <p:spPr>
          <a:xfrm>
            <a:off x="19662060" y="14787658"/>
            <a:ext cx="3694176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720" b="1" dirty="0">
                <a:solidFill>
                  <a:schemeClr val="bg1"/>
                </a:solidFill>
              </a:rPr>
              <a:t>Centralised logs from all services</a:t>
            </a:r>
          </a:p>
          <a:p>
            <a:pPr marL="0" indent="0" algn="l">
              <a:buNone/>
            </a:pPr>
            <a:r>
              <a:rPr lang="en-US" sz="720" b="1" dirty="0">
                <a:solidFill>
                  <a:schemeClr val="bg1"/>
                </a:solidFill>
              </a:rPr>
              <a:t>5xx alerts · QR fail rate · P95 latency</a:t>
            </a:r>
          </a:p>
        </p:txBody>
      </p:sp>
      <p:sp>
        <p:nvSpPr>
          <p:cNvPr id="407" name="Shape 405"/>
          <p:cNvSpPr/>
          <p:nvPr/>
        </p:nvSpPr>
        <p:spPr>
          <a:xfrm>
            <a:off x="2103120" y="8503920"/>
            <a:ext cx="731520" cy="5577840"/>
          </a:xfrm>
          <a:prstGeom prst="line">
            <a:avLst/>
          </a:prstGeom>
          <a:noFill/>
          <a:ln w="13970">
            <a:solidFill>
              <a:srgbClr val="4A1060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LID4096"/>
          </a:p>
        </p:txBody>
      </p:sp>
      <p:sp>
        <p:nvSpPr>
          <p:cNvPr id="408" name="Text 406"/>
          <p:cNvSpPr/>
          <p:nvPr/>
        </p:nvSpPr>
        <p:spPr>
          <a:xfrm>
            <a:off x="1965960" y="11183112"/>
            <a:ext cx="1005840" cy="228600"/>
          </a:xfrm>
          <a:prstGeom prst="rect">
            <a:avLst/>
          </a:prstGeom>
          <a:solidFill>
            <a:srgbClr val="F8F6F2"/>
          </a:solidFill>
          <a:ln w="5080">
            <a:solidFill>
              <a:srgbClr val="DDDDDD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444444"/>
                </a:solidFill>
              </a:rPr>
              <a:t>Hosts all</a:t>
            </a:r>
            <a:endParaRPr lang="en-US" sz="550" dirty="0"/>
          </a:p>
          <a:p>
            <a:pPr marL="0" indent="0" algn="ctr">
              <a:buNone/>
            </a:pPr>
            <a:r>
              <a:rPr lang="en-US" sz="550" dirty="0">
                <a:solidFill>
                  <a:srgbClr val="444444"/>
                </a:solidFill>
              </a:rPr>
              <a:t>microservices</a:t>
            </a:r>
            <a:endParaRPr lang="en-US" sz="550" dirty="0"/>
          </a:p>
        </p:txBody>
      </p:sp>
      <p:sp>
        <p:nvSpPr>
          <p:cNvPr id="410" name="Text 408"/>
          <p:cNvSpPr/>
          <p:nvPr/>
        </p:nvSpPr>
        <p:spPr>
          <a:xfrm>
            <a:off x="23774400" y="57607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0000"/>
                </a:solidFill>
              </a:rPr>
              <a:t>LEGEND</a:t>
            </a: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429" name="Shape 427"/>
          <p:cNvSpPr/>
          <p:nvPr/>
        </p:nvSpPr>
        <p:spPr>
          <a:xfrm>
            <a:off x="23134320" y="8823960"/>
            <a:ext cx="402336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grpSp>
        <p:nvGrpSpPr>
          <p:cNvPr id="444" name="Group 443">
            <a:extLst>
              <a:ext uri="{FF2B5EF4-FFF2-40B4-BE49-F238E27FC236}">
                <a16:creationId xmlns:a16="http://schemas.microsoft.com/office/drawing/2014/main" id="{7FAFE6BC-28A7-7214-57E3-5B228047EA0C}"/>
              </a:ext>
            </a:extLst>
          </p:cNvPr>
          <p:cNvGrpSpPr/>
          <p:nvPr/>
        </p:nvGrpSpPr>
        <p:grpSpPr>
          <a:xfrm>
            <a:off x="23180040" y="760948"/>
            <a:ext cx="4555446" cy="2715703"/>
            <a:chOff x="23134320" y="4206240"/>
            <a:chExt cx="4555446" cy="6812280"/>
          </a:xfrm>
        </p:grpSpPr>
        <p:sp>
          <p:nvSpPr>
            <p:cNvPr id="411" name="Shape 409"/>
            <p:cNvSpPr/>
            <p:nvPr/>
          </p:nvSpPr>
          <p:spPr>
            <a:xfrm>
              <a:off x="23134320" y="4224528"/>
              <a:ext cx="502920" cy="292608"/>
            </a:xfrm>
            <a:prstGeom prst="roundRect">
              <a:avLst/>
            </a:prstGeom>
            <a:solidFill>
              <a:srgbClr val="0A6648"/>
            </a:solidFill>
            <a:ln w="12700">
              <a:solidFill>
                <a:srgbClr val="C8EBE0"/>
              </a:solidFill>
              <a:prstDash val="solid"/>
            </a:ln>
          </p:spPr>
          <p:txBody>
            <a:bodyPr/>
            <a:lstStyle/>
            <a:p>
              <a:endParaRPr lang="LID4096"/>
            </a:p>
          </p:txBody>
        </p:sp>
        <p:sp>
          <p:nvSpPr>
            <p:cNvPr id="412" name="Text 410"/>
            <p:cNvSpPr/>
            <p:nvPr/>
          </p:nvSpPr>
          <p:spPr>
            <a:xfrm>
              <a:off x="23728680" y="4206240"/>
              <a:ext cx="3383280" cy="31089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750" dirty="0">
                  <a:solidFill>
                    <a:srgbClr val="444444"/>
                  </a:solidFill>
                </a:rPr>
                <a:t>Phase 1 — Core MVP Services</a:t>
              </a:r>
              <a:endParaRPr lang="en-US" sz="750" dirty="0"/>
            </a:p>
          </p:txBody>
        </p:sp>
        <p:sp>
          <p:nvSpPr>
            <p:cNvPr id="413" name="Shape 411"/>
            <p:cNvSpPr/>
            <p:nvPr/>
          </p:nvSpPr>
          <p:spPr>
            <a:xfrm>
              <a:off x="23134320" y="4727448"/>
              <a:ext cx="502920" cy="292608"/>
            </a:xfrm>
            <a:prstGeom prst="roundRect">
              <a:avLst/>
            </a:prstGeom>
            <a:solidFill>
              <a:srgbClr val="4A42A8"/>
            </a:solidFill>
            <a:ln w="12700">
              <a:solidFill>
                <a:srgbClr val="DDD9F8"/>
              </a:solidFill>
              <a:prstDash val="solid"/>
            </a:ln>
          </p:spPr>
          <p:txBody>
            <a:bodyPr/>
            <a:lstStyle/>
            <a:p>
              <a:endParaRPr lang="LID4096"/>
            </a:p>
          </p:txBody>
        </p:sp>
        <p:sp>
          <p:nvSpPr>
            <p:cNvPr id="414" name="Text 412"/>
            <p:cNvSpPr/>
            <p:nvPr/>
          </p:nvSpPr>
          <p:spPr>
            <a:xfrm>
              <a:off x="23728680" y="4709160"/>
              <a:ext cx="3383280" cy="31089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750" dirty="0">
                  <a:solidFill>
                    <a:srgbClr val="444444"/>
                  </a:solidFill>
                </a:rPr>
                <a:t>Phase 2 — Scale (AI · ML · Ads)</a:t>
              </a:r>
              <a:endParaRPr lang="en-US" sz="750" dirty="0"/>
            </a:p>
          </p:txBody>
        </p:sp>
        <p:sp>
          <p:nvSpPr>
            <p:cNvPr id="415" name="Shape 413"/>
            <p:cNvSpPr/>
            <p:nvPr/>
          </p:nvSpPr>
          <p:spPr>
            <a:xfrm>
              <a:off x="23134320" y="5230368"/>
              <a:ext cx="502920" cy="292608"/>
            </a:xfrm>
            <a:prstGeom prst="roundRect">
              <a:avLst/>
            </a:prstGeom>
            <a:solidFill>
              <a:srgbClr val="8B3318"/>
            </a:solidFill>
            <a:ln w="12700">
              <a:solidFill>
                <a:srgbClr val="F8DDD4"/>
              </a:solidFill>
              <a:prstDash val="solid"/>
            </a:ln>
          </p:spPr>
          <p:txBody>
            <a:bodyPr/>
            <a:lstStyle/>
            <a:p>
              <a:endParaRPr lang="LID4096"/>
            </a:p>
          </p:txBody>
        </p:sp>
        <p:sp>
          <p:nvSpPr>
            <p:cNvPr id="416" name="Text 414"/>
            <p:cNvSpPr/>
            <p:nvPr/>
          </p:nvSpPr>
          <p:spPr>
            <a:xfrm>
              <a:off x="23728680" y="5212080"/>
              <a:ext cx="3383280" cy="31089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750" dirty="0">
                  <a:solidFill>
                    <a:srgbClr val="444444"/>
                  </a:solidFill>
                </a:rPr>
                <a:t>Phase 3 — Commerce (Wallet · Store)</a:t>
              </a:r>
              <a:endParaRPr lang="en-US" sz="750" dirty="0"/>
            </a:p>
          </p:txBody>
        </p:sp>
        <p:sp>
          <p:nvSpPr>
            <p:cNvPr id="417" name="Shape 415"/>
            <p:cNvSpPr/>
            <p:nvPr/>
          </p:nvSpPr>
          <p:spPr>
            <a:xfrm>
              <a:off x="23134320" y="5733288"/>
              <a:ext cx="502920" cy="292608"/>
            </a:xfrm>
            <a:prstGeom prst="roundRect">
              <a:avLst/>
            </a:prstGeom>
            <a:solidFill>
              <a:srgbClr val="0E4A80"/>
            </a:solidFill>
            <a:ln w="12700">
              <a:solidFill>
                <a:srgbClr val="C8DFFA"/>
              </a:solidFill>
              <a:prstDash val="solid"/>
            </a:ln>
          </p:spPr>
          <p:txBody>
            <a:bodyPr/>
            <a:lstStyle/>
            <a:p>
              <a:endParaRPr lang="LID4096"/>
            </a:p>
          </p:txBody>
        </p:sp>
        <p:sp>
          <p:nvSpPr>
            <p:cNvPr id="418" name="Text 416"/>
            <p:cNvSpPr/>
            <p:nvPr/>
          </p:nvSpPr>
          <p:spPr>
            <a:xfrm>
              <a:off x="23728680" y="5715000"/>
              <a:ext cx="3383280" cy="31089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750" dirty="0">
                  <a:solidFill>
                    <a:srgbClr val="444444"/>
                  </a:solidFill>
                </a:rPr>
                <a:t>Database Cylinder (PostgreSQL/S3)</a:t>
              </a:r>
              <a:endParaRPr lang="en-US" sz="750" dirty="0"/>
            </a:p>
          </p:txBody>
        </p:sp>
        <p:sp>
          <p:nvSpPr>
            <p:cNvPr id="419" name="Shape 417"/>
            <p:cNvSpPr/>
            <p:nvPr/>
          </p:nvSpPr>
          <p:spPr>
            <a:xfrm>
              <a:off x="23134320" y="6236208"/>
              <a:ext cx="502920" cy="292608"/>
            </a:xfrm>
            <a:prstGeom prst="roundRect">
              <a:avLst/>
            </a:prstGeom>
            <a:solidFill>
              <a:srgbClr val="922B21"/>
            </a:solidFill>
            <a:ln w="12700">
              <a:solidFill>
                <a:srgbClr val="FADBD8"/>
              </a:solidFill>
              <a:prstDash val="solid"/>
            </a:ln>
          </p:spPr>
          <p:txBody>
            <a:bodyPr/>
            <a:lstStyle/>
            <a:p>
              <a:endParaRPr lang="LID4096"/>
            </a:p>
          </p:txBody>
        </p:sp>
        <p:sp>
          <p:nvSpPr>
            <p:cNvPr id="420" name="Text 418"/>
            <p:cNvSpPr/>
            <p:nvPr/>
          </p:nvSpPr>
          <p:spPr>
            <a:xfrm>
              <a:off x="23728680" y="6217920"/>
              <a:ext cx="3383280" cy="31089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750" dirty="0">
                  <a:solidFill>
                    <a:srgbClr val="444444"/>
                  </a:solidFill>
                </a:rPr>
                <a:t>Cache (Redis ElastiCache)</a:t>
              </a:r>
              <a:endParaRPr lang="en-US" sz="750" dirty="0"/>
            </a:p>
          </p:txBody>
        </p:sp>
        <p:sp>
          <p:nvSpPr>
            <p:cNvPr id="421" name="Shape 419"/>
            <p:cNvSpPr/>
            <p:nvPr/>
          </p:nvSpPr>
          <p:spPr>
            <a:xfrm>
              <a:off x="23134320" y="6739128"/>
              <a:ext cx="502920" cy="292608"/>
            </a:xfrm>
            <a:prstGeom prst="roundRect">
              <a:avLst/>
            </a:prstGeom>
            <a:solidFill>
              <a:srgbClr val="0D3F6B"/>
            </a:solidFill>
            <a:ln w="12700">
              <a:solidFill>
                <a:srgbClr val="D4E6F5"/>
              </a:solidFill>
              <a:prstDash val="solid"/>
            </a:ln>
          </p:spPr>
          <p:txBody>
            <a:bodyPr/>
            <a:lstStyle/>
            <a:p>
              <a:endParaRPr lang="LID4096"/>
            </a:p>
          </p:txBody>
        </p:sp>
        <p:sp>
          <p:nvSpPr>
            <p:cNvPr id="422" name="Text 420"/>
            <p:cNvSpPr/>
            <p:nvPr/>
          </p:nvSpPr>
          <p:spPr>
            <a:xfrm>
              <a:off x="23728680" y="6720840"/>
              <a:ext cx="3383280" cy="31089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750" dirty="0">
                  <a:solidFill>
                    <a:srgbClr val="444444"/>
                  </a:solidFill>
                </a:rPr>
                <a:t>API Gateway / CDN</a:t>
              </a:r>
              <a:endParaRPr lang="en-US" sz="750" dirty="0"/>
            </a:p>
          </p:txBody>
        </p:sp>
        <p:sp>
          <p:nvSpPr>
            <p:cNvPr id="423" name="Shape 421"/>
            <p:cNvSpPr/>
            <p:nvPr/>
          </p:nvSpPr>
          <p:spPr>
            <a:xfrm>
              <a:off x="23134320" y="7242048"/>
              <a:ext cx="502920" cy="292608"/>
            </a:xfrm>
            <a:prstGeom prst="roundRect">
              <a:avLst/>
            </a:prstGeom>
            <a:solidFill>
              <a:srgbClr val="6B3A0A"/>
            </a:solidFill>
            <a:ln w="12700">
              <a:solidFill>
                <a:srgbClr val="F5E6CC"/>
              </a:solidFill>
              <a:prstDash val="solid"/>
            </a:ln>
          </p:spPr>
          <p:txBody>
            <a:bodyPr/>
            <a:lstStyle/>
            <a:p>
              <a:endParaRPr lang="LID4096"/>
            </a:p>
          </p:txBody>
        </p:sp>
        <p:sp>
          <p:nvSpPr>
            <p:cNvPr id="424" name="Text 422"/>
            <p:cNvSpPr/>
            <p:nvPr/>
          </p:nvSpPr>
          <p:spPr>
            <a:xfrm>
              <a:off x="23728680" y="7223760"/>
              <a:ext cx="3383280" cy="31089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750" dirty="0">
                  <a:solidFill>
                    <a:srgbClr val="444444"/>
                  </a:solidFill>
                </a:rPr>
                <a:t>External Partners / APIs</a:t>
              </a:r>
              <a:endParaRPr lang="en-US" sz="750" dirty="0"/>
            </a:p>
          </p:txBody>
        </p:sp>
        <p:sp>
          <p:nvSpPr>
            <p:cNvPr id="425" name="Shape 423"/>
            <p:cNvSpPr/>
            <p:nvPr/>
          </p:nvSpPr>
          <p:spPr>
            <a:xfrm>
              <a:off x="23134320" y="7744968"/>
              <a:ext cx="502920" cy="292608"/>
            </a:xfrm>
            <a:prstGeom prst="roundRect">
              <a:avLst/>
            </a:prstGeom>
            <a:solidFill>
              <a:srgbClr val="4A1060"/>
            </a:solidFill>
            <a:ln w="12700">
              <a:solidFill>
                <a:srgbClr val="E8D8F8"/>
              </a:solidFill>
              <a:prstDash val="solid"/>
            </a:ln>
          </p:spPr>
          <p:txBody>
            <a:bodyPr/>
            <a:lstStyle/>
            <a:p>
              <a:endParaRPr lang="LID4096"/>
            </a:p>
          </p:txBody>
        </p:sp>
        <p:sp>
          <p:nvSpPr>
            <p:cNvPr id="426" name="Text 424"/>
            <p:cNvSpPr/>
            <p:nvPr/>
          </p:nvSpPr>
          <p:spPr>
            <a:xfrm>
              <a:off x="23728680" y="7726680"/>
              <a:ext cx="3383280" cy="31089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750" dirty="0">
                  <a:solidFill>
                    <a:srgbClr val="444444"/>
                  </a:solidFill>
                </a:rPr>
                <a:t>DevOps / Infrastructure</a:t>
              </a:r>
              <a:endParaRPr lang="en-US" sz="750" dirty="0"/>
            </a:p>
          </p:txBody>
        </p:sp>
        <p:sp>
          <p:nvSpPr>
            <p:cNvPr id="427" name="Shape 425"/>
            <p:cNvSpPr/>
            <p:nvPr/>
          </p:nvSpPr>
          <p:spPr>
            <a:xfrm>
              <a:off x="23134320" y="8247888"/>
              <a:ext cx="502920" cy="292608"/>
            </a:xfrm>
            <a:prstGeom prst="roundRect">
              <a:avLst/>
            </a:prstGeom>
            <a:solidFill>
              <a:srgbClr val="5B7FA6"/>
            </a:solidFill>
            <a:ln w="12700">
              <a:solidFill>
                <a:srgbClr val="D5E8F5"/>
              </a:solidFill>
              <a:prstDash val="solid"/>
            </a:ln>
          </p:spPr>
          <p:txBody>
            <a:bodyPr/>
            <a:lstStyle/>
            <a:p>
              <a:endParaRPr lang="LID4096"/>
            </a:p>
          </p:txBody>
        </p:sp>
        <p:sp>
          <p:nvSpPr>
            <p:cNvPr id="428" name="Text 426"/>
            <p:cNvSpPr/>
            <p:nvPr/>
          </p:nvSpPr>
          <p:spPr>
            <a:xfrm>
              <a:off x="23728680" y="8229600"/>
              <a:ext cx="3383280" cy="31089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750" dirty="0">
                  <a:solidFill>
                    <a:srgbClr val="444444"/>
                  </a:solidFill>
                </a:rPr>
                <a:t>Cloud / Internet / SaaS API</a:t>
              </a:r>
              <a:endParaRPr lang="en-US" sz="750" dirty="0"/>
            </a:p>
          </p:txBody>
        </p:sp>
        <p:sp>
          <p:nvSpPr>
            <p:cNvPr id="430" name="Text 428"/>
            <p:cNvSpPr/>
            <p:nvPr/>
          </p:nvSpPr>
          <p:spPr>
            <a:xfrm>
              <a:off x="23666406" y="8576056"/>
              <a:ext cx="4023360" cy="23774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0000"/>
                  </a:solidFill>
                </a:rPr>
                <a:t>KEY PROTOCOLS</a:t>
              </a:r>
              <a:endParaRPr lang="en-US" sz="1000" dirty="0">
                <a:solidFill>
                  <a:srgbClr val="FF0000"/>
                </a:solidFill>
              </a:endParaRPr>
            </a:p>
          </p:txBody>
        </p:sp>
        <p:sp>
          <p:nvSpPr>
            <p:cNvPr id="431" name="Text 429"/>
            <p:cNvSpPr/>
            <p:nvPr/>
          </p:nvSpPr>
          <p:spPr>
            <a:xfrm>
              <a:off x="23134320" y="9180576"/>
              <a:ext cx="137160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700" b="1" dirty="0">
                  <a:solidFill>
                    <a:srgbClr val="0D3F6B"/>
                  </a:solidFill>
                </a:rPr>
                <a:t>HTTPS:443</a:t>
              </a:r>
              <a:endParaRPr lang="en-US" sz="700" dirty="0"/>
            </a:p>
          </p:txBody>
        </p:sp>
        <p:sp>
          <p:nvSpPr>
            <p:cNvPr id="432" name="Text 430"/>
            <p:cNvSpPr/>
            <p:nvPr/>
          </p:nvSpPr>
          <p:spPr>
            <a:xfrm>
              <a:off x="24551640" y="9180576"/>
              <a:ext cx="265176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680" dirty="0">
                  <a:solidFill>
                    <a:srgbClr val="444444"/>
                  </a:solidFill>
                </a:rPr>
                <a:t>All client → Gateway traffic</a:t>
              </a:r>
              <a:endParaRPr lang="en-US" sz="680" dirty="0"/>
            </a:p>
          </p:txBody>
        </p:sp>
        <p:sp>
          <p:nvSpPr>
            <p:cNvPr id="433" name="Text 431"/>
            <p:cNvSpPr/>
            <p:nvPr/>
          </p:nvSpPr>
          <p:spPr>
            <a:xfrm>
              <a:off x="23134320" y="9582912"/>
              <a:ext cx="137160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700" b="1" dirty="0">
                  <a:solidFill>
                    <a:srgbClr val="0D3F6B"/>
                  </a:solidFill>
                </a:rPr>
                <a:t>Internal VPC</a:t>
              </a:r>
              <a:endParaRPr lang="en-US" sz="700" dirty="0"/>
            </a:p>
          </p:txBody>
        </p:sp>
        <p:sp>
          <p:nvSpPr>
            <p:cNvPr id="434" name="Text 432"/>
            <p:cNvSpPr/>
            <p:nvPr/>
          </p:nvSpPr>
          <p:spPr>
            <a:xfrm>
              <a:off x="24551640" y="9582912"/>
              <a:ext cx="265176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680" dirty="0">
                  <a:solidFill>
                    <a:srgbClr val="444444"/>
                  </a:solidFill>
                </a:rPr>
                <a:t>Gateway → Microservices</a:t>
              </a:r>
              <a:endParaRPr lang="en-US" sz="680" dirty="0"/>
            </a:p>
          </p:txBody>
        </p:sp>
        <p:sp>
          <p:nvSpPr>
            <p:cNvPr id="435" name="Text 433"/>
            <p:cNvSpPr/>
            <p:nvPr/>
          </p:nvSpPr>
          <p:spPr>
            <a:xfrm>
              <a:off x="23134320" y="9985248"/>
              <a:ext cx="137160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700" b="1" dirty="0">
                  <a:solidFill>
                    <a:srgbClr val="0D3F6B"/>
                  </a:solidFill>
                </a:rPr>
                <a:t>TCP:5432</a:t>
              </a:r>
              <a:endParaRPr lang="en-US" sz="700" dirty="0"/>
            </a:p>
          </p:txBody>
        </p:sp>
        <p:sp>
          <p:nvSpPr>
            <p:cNvPr id="436" name="Text 434"/>
            <p:cNvSpPr/>
            <p:nvPr/>
          </p:nvSpPr>
          <p:spPr>
            <a:xfrm>
              <a:off x="24551640" y="9985248"/>
              <a:ext cx="265176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680" dirty="0">
                  <a:solidFill>
                    <a:srgbClr val="444444"/>
                  </a:solidFill>
                </a:rPr>
                <a:t>Services → PostgreSQL</a:t>
              </a:r>
              <a:endParaRPr lang="en-US" sz="680" dirty="0"/>
            </a:p>
          </p:txBody>
        </p:sp>
        <p:sp>
          <p:nvSpPr>
            <p:cNvPr id="437" name="Text 435"/>
            <p:cNvSpPr/>
            <p:nvPr/>
          </p:nvSpPr>
          <p:spPr>
            <a:xfrm>
              <a:off x="23134320" y="10387584"/>
              <a:ext cx="137160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700" b="1" dirty="0">
                  <a:solidFill>
                    <a:srgbClr val="0D3F6B"/>
                  </a:solidFill>
                </a:rPr>
                <a:t>TCP:6379</a:t>
              </a:r>
              <a:endParaRPr lang="en-US" sz="700" dirty="0"/>
            </a:p>
          </p:txBody>
        </p:sp>
        <p:sp>
          <p:nvSpPr>
            <p:cNvPr id="438" name="Text 436"/>
            <p:cNvSpPr/>
            <p:nvPr/>
          </p:nvSpPr>
          <p:spPr>
            <a:xfrm>
              <a:off x="24551640" y="10387584"/>
              <a:ext cx="265176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680" dirty="0">
                  <a:solidFill>
                    <a:srgbClr val="444444"/>
                  </a:solidFill>
                </a:rPr>
                <a:t>Services → Redis</a:t>
              </a:r>
              <a:endParaRPr lang="en-US" sz="680" dirty="0"/>
            </a:p>
          </p:txBody>
        </p:sp>
        <p:sp>
          <p:nvSpPr>
            <p:cNvPr id="439" name="Text 437"/>
            <p:cNvSpPr/>
            <p:nvPr/>
          </p:nvSpPr>
          <p:spPr>
            <a:xfrm>
              <a:off x="23134320" y="10789920"/>
              <a:ext cx="137160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700" b="1" dirty="0">
                  <a:solidFill>
                    <a:srgbClr val="0D3F6B"/>
                  </a:solidFill>
                </a:rPr>
                <a:t>HTTPS:443</a:t>
              </a:r>
              <a:endParaRPr lang="en-US" sz="700" dirty="0"/>
            </a:p>
          </p:txBody>
        </p:sp>
        <p:sp>
          <p:nvSpPr>
            <p:cNvPr id="440" name="Text 438"/>
            <p:cNvSpPr/>
            <p:nvPr/>
          </p:nvSpPr>
          <p:spPr>
            <a:xfrm>
              <a:off x="24551640" y="10789920"/>
              <a:ext cx="265176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680" dirty="0">
                  <a:solidFill>
                    <a:srgbClr val="444444"/>
                  </a:solidFill>
                </a:rPr>
                <a:t>S3/CDN · All external APIs</a:t>
              </a:r>
              <a:endParaRPr lang="en-US" sz="680" dirty="0"/>
            </a:p>
          </p:txBody>
        </p:sp>
      </p:grpSp>
      <p:sp>
        <p:nvSpPr>
          <p:cNvPr id="441" name="Shape 439"/>
          <p:cNvSpPr/>
          <p:nvPr/>
        </p:nvSpPr>
        <p:spPr>
          <a:xfrm>
            <a:off x="0" y="15819120"/>
            <a:ext cx="27432000" cy="0"/>
          </a:xfrm>
          <a:prstGeom prst="line">
            <a:avLst/>
          </a:prstGeom>
          <a:noFill/>
          <a:ln w="25400">
            <a:solidFill>
              <a:srgbClr val="C9A94E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42" name="Shape 440"/>
          <p:cNvSpPr/>
          <p:nvPr/>
        </p:nvSpPr>
        <p:spPr>
          <a:xfrm>
            <a:off x="0" y="15819120"/>
            <a:ext cx="27432000" cy="6400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43" name="Text 441"/>
          <p:cNvSpPr/>
          <p:nvPr/>
        </p:nvSpPr>
        <p:spPr>
          <a:xfrm>
            <a:off x="0" y="15819120"/>
            <a:ext cx="2743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9A94E"/>
                </a:solidFill>
              </a:rPr>
              <a:t>REVELIO  |  Campaign Commitment as a Service  |  Full Platform Technical Architecture  |  CONFIDENTIAL  |  April 2026  |  revelio.ai</a:t>
            </a:r>
            <a:endParaRPr lang="en-US" sz="900" dirty="0"/>
          </a:p>
        </p:txBody>
      </p:sp>
      <p:sp>
        <p:nvSpPr>
          <p:cNvPr id="445" name="TextBox 444">
            <a:extLst>
              <a:ext uri="{FF2B5EF4-FFF2-40B4-BE49-F238E27FC236}">
                <a16:creationId xmlns:a16="http://schemas.microsoft.com/office/drawing/2014/main" id="{A3C3B4AE-9F17-626F-3D4A-50AD0F7096ED}"/>
              </a:ext>
            </a:extLst>
          </p:cNvPr>
          <p:cNvSpPr txBox="1"/>
          <p:nvPr/>
        </p:nvSpPr>
        <p:spPr>
          <a:xfrm>
            <a:off x="137160" y="6311627"/>
            <a:ext cx="43891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</a:rPr>
              <a:t>Phase 2 — Scale (AI · ML · Ads)</a:t>
            </a:r>
          </a:p>
          <a:p>
            <a:endParaRPr lang="LID4096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747</Words>
  <Application>Microsoft Office PowerPoint</Application>
  <PresentationFormat>Custom</PresentationFormat>
  <Paragraphs>203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3" baseType="lpstr">
      <vt:lpstr>Arial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Revelio — Full Platform Technical Architecture</dc:title>
  <dc:subject>PptxGenJS Presentation</dc:subject>
  <dc:creator>Michel M Rabet</dc:creator>
  <cp:lastModifiedBy>Michel M Rabet</cp:lastModifiedBy>
  <cp:revision>2</cp:revision>
  <dcterms:created xsi:type="dcterms:W3CDTF">2026-04-27T04:37:04Z</dcterms:created>
  <dcterms:modified xsi:type="dcterms:W3CDTF">2026-04-29T11:16:38Z</dcterms:modified>
</cp:coreProperties>
</file>